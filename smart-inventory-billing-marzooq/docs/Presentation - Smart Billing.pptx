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HK Grotesk" panose="020B0604020202020204" charset="0"/>
      <p:regular r:id="rId22"/>
    </p:embeddedFont>
    <p:embeddedFont>
      <p:font typeface="HK Grotesk Bold" panose="020B0604020202020204" charset="0"/>
      <p:regular r:id="rId23"/>
    </p:embeddedFont>
    <p:embeddedFont>
      <p:font typeface="HK Grotesk Semi-Bold" panose="020B0604020202020204" charset="0"/>
      <p:regular r:id="rId24"/>
    </p:embeddedFont>
    <p:embeddedFont>
      <p:font typeface="Noto Serif Display ExtraCondensed Light" panose="020B0604020202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91" autoAdjust="0"/>
    <p:restoredTop sz="94622" autoAdjust="0"/>
  </p:normalViewPr>
  <p:slideViewPr>
    <p:cSldViewPr>
      <p:cViewPr>
        <p:scale>
          <a:sx n="41" d="100"/>
          <a:sy n="41" d="100"/>
        </p:scale>
        <p:origin x="712"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2"/>
              <a:stretch>
                <a:fillRect t="-378" b="-378"/>
              </a:stretch>
            </a:blipFill>
          </p:spPr>
          <p:txBody>
            <a:bodyPr/>
            <a:lstStyle/>
            <a:p>
              <a:endParaRPr lang="en-IN"/>
            </a:p>
          </p:txBody>
        </p:sp>
      </p:grpSp>
      <p:grpSp>
        <p:nvGrpSpPr>
          <p:cNvPr id="5" name="Group 5"/>
          <p:cNvGrpSpPr/>
          <p:nvPr/>
        </p:nvGrpSpPr>
        <p:grpSpPr>
          <a:xfrm>
            <a:off x="609600" y="3408730"/>
            <a:ext cx="8312340" cy="4531576"/>
            <a:chOff x="-76200" y="-1413867"/>
            <a:chExt cx="11083119" cy="6042102"/>
          </a:xfrm>
        </p:grpSpPr>
        <p:sp>
          <p:nvSpPr>
            <p:cNvPr id="6" name="TextBox 6"/>
            <p:cNvSpPr txBox="1"/>
            <p:nvPr/>
          </p:nvSpPr>
          <p:spPr>
            <a:xfrm>
              <a:off x="1824819" y="4048760"/>
              <a:ext cx="9182100" cy="579475"/>
            </a:xfrm>
            <a:prstGeom prst="rect">
              <a:avLst/>
            </a:prstGeom>
          </p:spPr>
          <p:txBody>
            <a:bodyPr lIns="0" tIns="0" rIns="0" bIns="0" rtlCol="0" anchor="t">
              <a:spAutoFit/>
            </a:bodyPr>
            <a:lstStyle/>
            <a:p>
              <a:pPr marL="0" lvl="0" indent="0" algn="l">
                <a:lnSpc>
                  <a:spcPts val="3359"/>
                </a:lnSpc>
                <a:spcBef>
                  <a:spcPct val="0"/>
                </a:spcBef>
              </a:pPr>
              <a:r>
                <a:rPr lang="en-US" sz="2799" u="none" dirty="0">
                  <a:solidFill>
                    <a:srgbClr val="F0F4F8"/>
                  </a:solidFill>
                  <a:latin typeface="HK Grotesk"/>
                  <a:ea typeface="HK Grotesk"/>
                  <a:cs typeface="HK Grotesk"/>
                  <a:sym typeface="HK Grotesk"/>
                </a:rPr>
                <a:t>Capstone Project by</a:t>
              </a:r>
              <a:r>
                <a:rPr lang="en-AS" sz="2799" u="none" dirty="0">
                  <a:solidFill>
                    <a:srgbClr val="F0F4F8"/>
                  </a:solidFill>
                  <a:latin typeface="HK Grotesk"/>
                  <a:ea typeface="HK Grotesk"/>
                  <a:cs typeface="HK Grotesk"/>
                  <a:sym typeface="HK Grotesk"/>
                </a:rPr>
                <a:t> Marzooq C</a:t>
              </a:r>
              <a:endParaRPr lang="en-US" sz="2799" u="none" dirty="0">
                <a:solidFill>
                  <a:srgbClr val="F0F4F8"/>
                </a:solidFill>
                <a:latin typeface="HK Grotesk"/>
                <a:ea typeface="HK Grotesk"/>
                <a:cs typeface="HK Grotesk"/>
                <a:sym typeface="HK Grotesk"/>
              </a:endParaRPr>
            </a:p>
          </p:txBody>
        </p:sp>
        <p:sp>
          <p:nvSpPr>
            <p:cNvPr id="7" name="TextBox 7"/>
            <p:cNvSpPr txBox="1"/>
            <p:nvPr/>
          </p:nvSpPr>
          <p:spPr>
            <a:xfrm>
              <a:off x="-76200" y="-1413867"/>
              <a:ext cx="9182100" cy="4626054"/>
            </a:xfrm>
            <a:prstGeom prst="rect">
              <a:avLst/>
            </a:prstGeom>
          </p:spPr>
          <p:txBody>
            <a:bodyPr lIns="0" tIns="0" rIns="0" bIns="0" rtlCol="0" anchor="t">
              <a:spAutoFit/>
            </a:bodyPr>
            <a:lstStyle/>
            <a:p>
              <a:pPr marL="0" lvl="0" indent="0" algn="l">
                <a:lnSpc>
                  <a:spcPts val="14400"/>
                </a:lnSpc>
              </a:pPr>
              <a:r>
                <a:rPr lang="en-US" sz="7200" spc="-288" dirty="0">
                  <a:solidFill>
                    <a:srgbClr val="F0F4F8"/>
                  </a:solidFill>
                  <a:latin typeface="Noto Serif Display ExtraCondensed Light"/>
                  <a:ea typeface="Noto Serif Display ExtraCondensed Light"/>
                  <a:cs typeface="Noto Serif Display ExtraCondensed Light"/>
                  <a:sym typeface="Noto Serif Display ExtraCondensed Light"/>
                </a:rPr>
                <a:t>Smart Inventory  &amp; Billing</a:t>
              </a:r>
            </a:p>
          </p:txBody>
        </p:sp>
      </p:grpSp>
      <p:sp>
        <p:nvSpPr>
          <p:cNvPr id="8" name="AutoShape 8"/>
          <p:cNvSpPr/>
          <p:nvPr/>
        </p:nvSpPr>
        <p:spPr>
          <a:xfrm>
            <a:off x="0" y="676275"/>
            <a:ext cx="9296400" cy="0"/>
          </a:xfrm>
          <a:prstGeom prst="line">
            <a:avLst/>
          </a:prstGeom>
          <a:ln w="19050" cap="flat">
            <a:solidFill>
              <a:srgbClr val="F0F4F8"/>
            </a:solidFill>
            <a:prstDash val="solid"/>
            <a:headEnd type="none" w="sm" len="sm"/>
            <a:tailEnd type="none" w="sm" len="sm"/>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8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1562100"/>
            <a:ext cx="6886575" cy="3581400"/>
            <a:chOff x="0" y="0"/>
            <a:chExt cx="9182100" cy="4775200"/>
          </a:xfrm>
        </p:grpSpPr>
        <p:sp>
          <p:nvSpPr>
            <p:cNvPr id="3" name="TextBox 3"/>
            <p:cNvSpPr txBox="1"/>
            <p:nvPr/>
          </p:nvSpPr>
          <p:spPr>
            <a:xfrm>
              <a:off x="0" y="180975"/>
              <a:ext cx="9182100" cy="33953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Project Overview</a:t>
              </a:r>
            </a:p>
          </p:txBody>
        </p:sp>
        <p:sp>
          <p:nvSpPr>
            <p:cNvPr id="4" name="TextBox 4"/>
            <p:cNvSpPr txBox="1"/>
            <p:nvPr/>
          </p:nvSpPr>
          <p:spPr>
            <a:xfrm>
              <a:off x="0" y="421640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Overview of the Capstone Project</a:t>
              </a:r>
            </a:p>
          </p:txBody>
        </p:sp>
      </p:grpSp>
      <p:sp>
        <p:nvSpPr>
          <p:cNvPr id="5" name="AutoShape 5"/>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6" name="AutoShape 6"/>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grpSp>
        <p:nvGrpSpPr>
          <p:cNvPr id="7" name="Group 7"/>
          <p:cNvGrpSpPr/>
          <p:nvPr/>
        </p:nvGrpSpPr>
        <p:grpSpPr>
          <a:xfrm>
            <a:off x="3124200" y="5768569"/>
            <a:ext cx="7115175" cy="2529488"/>
            <a:chOff x="-8229600" y="122225"/>
            <a:chExt cx="9486900" cy="3372651"/>
          </a:xfrm>
        </p:grpSpPr>
        <p:sp>
          <p:nvSpPr>
            <p:cNvPr id="8" name="TextBox 8"/>
            <p:cNvSpPr txBox="1"/>
            <p:nvPr/>
          </p:nvSpPr>
          <p:spPr>
            <a:xfrm>
              <a:off x="-8229600" y="122225"/>
              <a:ext cx="9182100" cy="558800"/>
            </a:xfrm>
            <a:prstGeom prst="rect">
              <a:avLst/>
            </a:prstGeom>
          </p:spPr>
          <p:txBody>
            <a:bodyPr lIns="0" tIns="0" rIns="0" bIns="0" rtlCol="0" anchor="t">
              <a:spAutoFit/>
            </a:bodyPr>
            <a:lstStyle/>
            <a:p>
              <a:pPr marL="0" lvl="0" indent="0" algn="l">
                <a:lnSpc>
                  <a:spcPts val="3359"/>
                </a:lnSpc>
              </a:pPr>
              <a:r>
                <a:rPr lang="en-US" sz="2799" b="1" u="none" strike="noStrike" dirty="0">
                  <a:solidFill>
                    <a:srgbClr val="F0F4F8"/>
                  </a:solidFill>
                  <a:latin typeface="HK Grotesk Semi-Bold"/>
                  <a:ea typeface="HK Grotesk Semi-Bold"/>
                  <a:cs typeface="HK Grotesk Semi-Bold"/>
                  <a:sym typeface="HK Grotesk Semi-Bold"/>
                </a:rPr>
                <a:t>Abstract Summary</a:t>
              </a:r>
            </a:p>
          </p:txBody>
        </p:sp>
        <p:sp>
          <p:nvSpPr>
            <p:cNvPr id="9" name="TextBox 9"/>
            <p:cNvSpPr txBox="1"/>
            <p:nvPr/>
          </p:nvSpPr>
          <p:spPr>
            <a:xfrm>
              <a:off x="-7924800" y="1081876"/>
              <a:ext cx="9182100" cy="2413000"/>
            </a:xfrm>
            <a:prstGeom prst="rect">
              <a:avLst/>
            </a:prstGeom>
          </p:spPr>
          <p:txBody>
            <a:bodyPr lIns="0" tIns="0" rIns="0" bIns="0" rtlCol="0" anchor="t">
              <a:spAutoFit/>
            </a:bodyPr>
            <a:lstStyle/>
            <a:p>
              <a:pPr marL="0" lvl="0" indent="0" algn="l">
                <a:lnSpc>
                  <a:spcPts val="2879"/>
                </a:lnSpc>
              </a:pPr>
              <a:r>
                <a:rPr lang="en-US" sz="2400" u="none" strike="noStrike" dirty="0">
                  <a:solidFill>
                    <a:srgbClr val="F0F4F8"/>
                  </a:solidFill>
                  <a:latin typeface="HK Grotesk"/>
                  <a:ea typeface="HK Grotesk"/>
                  <a:cs typeface="HK Grotesk"/>
                  <a:sym typeface="HK Grotesk"/>
                </a:rPr>
                <a:t>This project addresses inefficiencies in inventory management and billing, showcasing a Python-based system that automates processes, enhances accuracy, and generates detailed reports for informed decision-making.</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7496D"/>
        </a:solidFill>
        <a:effectLst/>
      </p:bgPr>
    </p:bg>
    <p:spTree>
      <p:nvGrpSpPr>
        <p:cNvPr id="1" name=""/>
        <p:cNvGrpSpPr/>
        <p:nvPr/>
      </p:nvGrpSpPr>
      <p:grpSpPr>
        <a:xfrm>
          <a:off x="0" y="0"/>
          <a:ext cx="0" cy="0"/>
          <a:chOff x="0" y="0"/>
          <a:chExt cx="0" cy="0"/>
        </a:xfrm>
      </p:grpSpPr>
      <p:grpSp>
        <p:nvGrpSpPr>
          <p:cNvPr id="2" name="Group 2"/>
          <p:cNvGrpSpPr/>
          <p:nvPr/>
        </p:nvGrpSpPr>
        <p:grpSpPr>
          <a:xfrm>
            <a:off x="666750" y="1562100"/>
            <a:ext cx="6886575" cy="3581400"/>
            <a:chOff x="0" y="0"/>
            <a:chExt cx="9182100" cy="4775200"/>
          </a:xfrm>
        </p:grpSpPr>
        <p:sp>
          <p:nvSpPr>
            <p:cNvPr id="3" name="TextBox 3"/>
            <p:cNvSpPr txBox="1"/>
            <p:nvPr/>
          </p:nvSpPr>
          <p:spPr>
            <a:xfrm>
              <a:off x="0" y="180975"/>
              <a:ext cx="9182100" cy="33953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Problem Statement</a:t>
              </a:r>
            </a:p>
          </p:txBody>
        </p:sp>
        <p:sp>
          <p:nvSpPr>
            <p:cNvPr id="4" name="TextBox 4"/>
            <p:cNvSpPr txBox="1"/>
            <p:nvPr/>
          </p:nvSpPr>
          <p:spPr>
            <a:xfrm>
              <a:off x="0" y="421640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Addressing inefficiencies in processes</a:t>
              </a:r>
            </a:p>
          </p:txBody>
        </p:sp>
      </p:grpSp>
      <p:sp>
        <p:nvSpPr>
          <p:cNvPr id="5" name="AutoShape 5"/>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6" name="AutoShape 6"/>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grpSp>
        <p:nvGrpSpPr>
          <p:cNvPr id="7" name="Group 7"/>
          <p:cNvGrpSpPr/>
          <p:nvPr/>
        </p:nvGrpSpPr>
        <p:grpSpPr>
          <a:xfrm>
            <a:off x="9296400" y="5676900"/>
            <a:ext cx="6886575" cy="2705100"/>
            <a:chOff x="0" y="0"/>
            <a:chExt cx="9182100" cy="3606800"/>
          </a:xfrm>
        </p:grpSpPr>
        <p:sp>
          <p:nvSpPr>
            <p:cNvPr id="8" name="TextBox 8"/>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Inventory Inefficiency</a:t>
              </a:r>
            </a:p>
          </p:txBody>
        </p:sp>
        <p:sp>
          <p:nvSpPr>
            <p:cNvPr id="9" name="TextBox 9"/>
            <p:cNvSpPr txBox="1"/>
            <p:nvPr/>
          </p:nvSpPr>
          <p:spPr>
            <a:xfrm>
              <a:off x="0" y="1193800"/>
              <a:ext cx="91821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0F4F8"/>
                  </a:solidFill>
                  <a:latin typeface="HK Grotesk"/>
                  <a:ea typeface="HK Grotesk"/>
                  <a:cs typeface="HK Grotesk"/>
                  <a:sym typeface="HK Grotesk"/>
                </a:rPr>
                <a:t>The current inventory management and billing processes are often </a:t>
              </a:r>
              <a:r>
                <a:rPr lang="en-US" sz="2400" b="1" u="none" strike="noStrike">
                  <a:solidFill>
                    <a:srgbClr val="F0F4F8"/>
                  </a:solidFill>
                  <a:latin typeface="HK Grotesk Bold"/>
                  <a:ea typeface="HK Grotesk Bold"/>
                  <a:cs typeface="HK Grotesk Bold"/>
                  <a:sym typeface="HK Grotesk Bold"/>
                </a:rPr>
                <a:t>manual and error-prone</a:t>
              </a:r>
              <a:r>
                <a:rPr lang="en-US" sz="2400" u="none" strike="noStrike">
                  <a:solidFill>
                    <a:srgbClr val="F0F4F8"/>
                  </a:solidFill>
                  <a:latin typeface="HK Grotesk"/>
                  <a:ea typeface="HK Grotesk"/>
                  <a:cs typeface="HK Grotesk"/>
                  <a:sym typeface="HK Grotesk"/>
                </a:rPr>
                <a:t>, leading to discrepancies, time delays, and increased operational costs, ultimately affecting overall business performance and customer satisfaction.</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grpSp>
        <p:nvGrpSpPr>
          <p:cNvPr id="2" name="Group 2"/>
          <p:cNvGrpSpPr/>
          <p:nvPr/>
        </p:nvGrpSpPr>
        <p:grpSpPr>
          <a:xfrm>
            <a:off x="666750" y="1562100"/>
            <a:ext cx="6886575" cy="3581400"/>
            <a:chOff x="0" y="0"/>
            <a:chExt cx="9182100" cy="4775200"/>
          </a:xfrm>
        </p:grpSpPr>
        <p:sp>
          <p:nvSpPr>
            <p:cNvPr id="3" name="TextBox 3"/>
            <p:cNvSpPr txBox="1"/>
            <p:nvPr/>
          </p:nvSpPr>
          <p:spPr>
            <a:xfrm>
              <a:off x="0" y="180975"/>
              <a:ext cx="9182100" cy="33953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Proposed Solution</a:t>
              </a:r>
            </a:p>
          </p:txBody>
        </p:sp>
        <p:sp>
          <p:nvSpPr>
            <p:cNvPr id="4" name="TextBox 4"/>
            <p:cNvSpPr txBox="1"/>
            <p:nvPr/>
          </p:nvSpPr>
          <p:spPr>
            <a:xfrm>
              <a:off x="0" y="421640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Introducing an efficient automation system</a:t>
              </a:r>
            </a:p>
          </p:txBody>
        </p:sp>
      </p:grpSp>
      <p:sp>
        <p:nvSpPr>
          <p:cNvPr id="5" name="AutoShape 5"/>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6" name="AutoShape 6"/>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grpSp>
        <p:nvGrpSpPr>
          <p:cNvPr id="7" name="Group 7"/>
          <p:cNvGrpSpPr/>
          <p:nvPr/>
        </p:nvGrpSpPr>
        <p:grpSpPr>
          <a:xfrm>
            <a:off x="9296400" y="5676900"/>
            <a:ext cx="6886575" cy="2705100"/>
            <a:chOff x="0" y="0"/>
            <a:chExt cx="9182100" cy="3606800"/>
          </a:xfrm>
        </p:grpSpPr>
        <p:sp>
          <p:nvSpPr>
            <p:cNvPr id="8" name="TextBox 8"/>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Smart Inventory System</a:t>
              </a:r>
            </a:p>
          </p:txBody>
        </p:sp>
        <p:sp>
          <p:nvSpPr>
            <p:cNvPr id="9" name="TextBox 9"/>
            <p:cNvSpPr txBox="1"/>
            <p:nvPr/>
          </p:nvSpPr>
          <p:spPr>
            <a:xfrm>
              <a:off x="0" y="1193800"/>
              <a:ext cx="91821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0F4F8"/>
                  </a:solidFill>
                  <a:latin typeface="HK Grotesk"/>
                  <a:ea typeface="HK Grotesk"/>
                  <a:cs typeface="HK Grotesk"/>
                  <a:sym typeface="HK Grotesk"/>
                </a:rPr>
                <a:t>The Smart Inventory System offers a comprehensive, automated solution for managing inventory and billing, enhancing </a:t>
              </a:r>
              <a:r>
                <a:rPr lang="en-US" sz="2400" b="1" u="none" strike="noStrike">
                  <a:solidFill>
                    <a:srgbClr val="F0F4F8"/>
                  </a:solidFill>
                  <a:latin typeface="HK Grotesk Bold"/>
                  <a:ea typeface="HK Grotesk Bold"/>
                  <a:cs typeface="HK Grotesk Bold"/>
                  <a:sym typeface="HK Grotesk Bold"/>
                </a:rPr>
                <a:t>efficiency and accuracy</a:t>
              </a:r>
              <a:r>
                <a:rPr lang="en-US" sz="2400" u="none" strike="noStrike">
                  <a:solidFill>
                    <a:srgbClr val="F0F4F8"/>
                  </a:solidFill>
                  <a:latin typeface="HK Grotesk"/>
                  <a:ea typeface="HK Grotesk"/>
                  <a:cs typeface="HK Grotesk"/>
                  <a:sym typeface="HK Grotesk"/>
                </a:rPr>
                <a:t> while simplifying reporting processes to meet user needs effectively.</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8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5619750"/>
            <a:ext cx="4010025" cy="3333750"/>
            <a:chOff x="0" y="0"/>
            <a:chExt cx="5346700" cy="4445000"/>
          </a:xfrm>
        </p:grpSpPr>
        <p:sp>
          <p:nvSpPr>
            <p:cNvPr id="3" name="TextBox 3"/>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Automation</a:t>
              </a:r>
            </a:p>
          </p:txBody>
        </p:sp>
        <p:sp>
          <p:nvSpPr>
            <p:cNvPr id="4" name="TextBox 4"/>
            <p:cNvSpPr txBox="1"/>
            <p:nvPr/>
          </p:nvSpPr>
          <p:spPr>
            <a:xfrm>
              <a:off x="0" y="1235075"/>
              <a:ext cx="5346700" cy="3209925"/>
            </a:xfrm>
            <a:prstGeom prst="rect">
              <a:avLst/>
            </a:prstGeom>
          </p:spPr>
          <p:txBody>
            <a:bodyPr lIns="0" tIns="0" rIns="0" bIns="0" rtlCol="0" anchor="t">
              <a:spAutoFit/>
            </a:bodyPr>
            <a:lstStyle/>
            <a:p>
              <a:pPr marL="0" lvl="0" indent="0" algn="l">
                <a:lnSpc>
                  <a:spcPts val="2772"/>
                </a:lnSpc>
                <a:spcBef>
                  <a:spcPct val="0"/>
                </a:spcBef>
              </a:pPr>
              <a:r>
                <a:rPr lang="en-US" sz="2310" u="none" strike="noStrike">
                  <a:solidFill>
                    <a:srgbClr val="F0F4F8"/>
                  </a:solidFill>
                  <a:latin typeface="HK Grotesk"/>
                  <a:ea typeface="HK Grotesk"/>
                  <a:cs typeface="HK Grotesk"/>
                  <a:sym typeface="HK Grotesk"/>
                </a:rPr>
                <a:t>The system automates routine tasks, significantly reducing manual input, which enhances efficiency and frees up valuable time for users to focus on critical decision-making processes.</a:t>
              </a:r>
            </a:p>
          </p:txBody>
        </p:sp>
      </p:grpSp>
      <p:grpSp>
        <p:nvGrpSpPr>
          <p:cNvPr id="5" name="Group 5"/>
          <p:cNvGrpSpPr/>
          <p:nvPr/>
        </p:nvGrpSpPr>
        <p:grpSpPr>
          <a:xfrm>
            <a:off x="6419850" y="5619750"/>
            <a:ext cx="4010025" cy="3362325"/>
            <a:chOff x="0" y="0"/>
            <a:chExt cx="5346700" cy="4483100"/>
          </a:xfrm>
        </p:grpSpPr>
        <p:sp>
          <p:nvSpPr>
            <p:cNvPr id="6" name="TextBox 6"/>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Accuracy</a:t>
              </a:r>
            </a:p>
          </p:txBody>
        </p:sp>
        <p:sp>
          <p:nvSpPr>
            <p:cNvPr id="7" name="TextBox 7"/>
            <p:cNvSpPr txBox="1"/>
            <p:nvPr/>
          </p:nvSpPr>
          <p:spPr>
            <a:xfrm>
              <a:off x="0" y="1273175"/>
              <a:ext cx="5346700" cy="3209925"/>
            </a:xfrm>
            <a:prstGeom prst="rect">
              <a:avLst/>
            </a:prstGeom>
          </p:spPr>
          <p:txBody>
            <a:bodyPr lIns="0" tIns="0" rIns="0" bIns="0" rtlCol="0" anchor="t">
              <a:spAutoFit/>
            </a:bodyPr>
            <a:lstStyle/>
            <a:p>
              <a:pPr marL="0" lvl="0" indent="0" algn="l">
                <a:lnSpc>
                  <a:spcPts val="2772"/>
                </a:lnSpc>
                <a:spcBef>
                  <a:spcPct val="0"/>
                </a:spcBef>
              </a:pPr>
              <a:r>
                <a:rPr lang="en-US" sz="2310" u="none" strike="noStrike">
                  <a:solidFill>
                    <a:srgbClr val="F0F4F8"/>
                  </a:solidFill>
                  <a:latin typeface="HK Grotesk"/>
                  <a:ea typeface="HK Grotesk"/>
                  <a:cs typeface="HK Grotesk"/>
                  <a:sym typeface="HK Grotesk"/>
                </a:rPr>
                <a:t>By minimizing human error through automated calculations and data entry, the system ensures </a:t>
              </a:r>
              <a:r>
                <a:rPr lang="en-US" sz="2310" b="1" u="none" strike="noStrike">
                  <a:solidFill>
                    <a:srgbClr val="F0F4F8"/>
                  </a:solidFill>
                  <a:latin typeface="HK Grotesk Bold"/>
                  <a:ea typeface="HK Grotesk Bold"/>
                  <a:cs typeface="HK Grotesk Bold"/>
                  <a:sym typeface="HK Grotesk Bold"/>
                </a:rPr>
                <a:t>high accuracy</a:t>
              </a:r>
              <a:r>
                <a:rPr lang="en-US" sz="2310" u="none" strike="noStrike">
                  <a:solidFill>
                    <a:srgbClr val="F0F4F8"/>
                  </a:solidFill>
                  <a:latin typeface="HK Grotesk"/>
                  <a:ea typeface="HK Grotesk"/>
                  <a:cs typeface="HK Grotesk"/>
                  <a:sym typeface="HK Grotesk"/>
                </a:rPr>
                <a:t> in inventory tracking and billing processes, fostering trust and reliability among users.</a:t>
              </a:r>
            </a:p>
          </p:txBody>
        </p:sp>
      </p:grpSp>
      <p:grpSp>
        <p:nvGrpSpPr>
          <p:cNvPr id="8" name="Group 8"/>
          <p:cNvGrpSpPr/>
          <p:nvPr/>
        </p:nvGrpSpPr>
        <p:grpSpPr>
          <a:xfrm>
            <a:off x="12172950" y="5619750"/>
            <a:ext cx="4010025" cy="3333750"/>
            <a:chOff x="0" y="0"/>
            <a:chExt cx="5346700" cy="4445000"/>
          </a:xfrm>
        </p:grpSpPr>
        <p:sp>
          <p:nvSpPr>
            <p:cNvPr id="9" name="TextBox 9"/>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Reports</a:t>
              </a:r>
            </a:p>
          </p:txBody>
        </p:sp>
        <p:sp>
          <p:nvSpPr>
            <p:cNvPr id="10" name="TextBox 10"/>
            <p:cNvSpPr txBox="1"/>
            <p:nvPr/>
          </p:nvSpPr>
          <p:spPr>
            <a:xfrm>
              <a:off x="0" y="1235075"/>
              <a:ext cx="5346700" cy="3209925"/>
            </a:xfrm>
            <a:prstGeom prst="rect">
              <a:avLst/>
            </a:prstGeom>
          </p:spPr>
          <p:txBody>
            <a:bodyPr lIns="0" tIns="0" rIns="0" bIns="0" rtlCol="0" anchor="t">
              <a:spAutoFit/>
            </a:bodyPr>
            <a:lstStyle/>
            <a:p>
              <a:pPr marL="0" lvl="0" indent="0" algn="l">
                <a:lnSpc>
                  <a:spcPts val="2772"/>
                </a:lnSpc>
                <a:spcBef>
                  <a:spcPct val="0"/>
                </a:spcBef>
              </a:pPr>
              <a:r>
                <a:rPr lang="en-US" sz="2310" u="none" strike="noStrike">
                  <a:solidFill>
                    <a:srgbClr val="F0F4F8"/>
                  </a:solidFill>
                  <a:latin typeface="HK Grotesk"/>
                  <a:ea typeface="HK Grotesk"/>
                  <a:cs typeface="HK Grotesk"/>
                  <a:sym typeface="HK Grotesk"/>
                </a:rPr>
                <a:t>Comprehensive reporting features allow users to generate insights on inventory levels, sales performance, and billing trends, aiding informed decision-making and strategic planning for future operations.</a:t>
              </a:r>
            </a:p>
          </p:txBody>
        </p:sp>
      </p:grpSp>
      <p:grpSp>
        <p:nvGrpSpPr>
          <p:cNvPr id="11" name="Group 11"/>
          <p:cNvGrpSpPr/>
          <p:nvPr/>
        </p:nvGrpSpPr>
        <p:grpSpPr>
          <a:xfrm>
            <a:off x="666750" y="1562100"/>
            <a:ext cx="16954500" cy="2209800"/>
            <a:chOff x="0" y="0"/>
            <a:chExt cx="22606000" cy="2946400"/>
          </a:xfrm>
        </p:grpSpPr>
        <p:sp>
          <p:nvSpPr>
            <p:cNvPr id="12" name="TextBox 12"/>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Project Objectives</a:t>
              </a:r>
            </a:p>
          </p:txBody>
        </p:sp>
        <p:sp>
          <p:nvSpPr>
            <p:cNvPr id="13" name="TextBox 13"/>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Key Goals of the System</a:t>
              </a:r>
            </a:p>
          </p:txBody>
        </p:sp>
      </p:grpSp>
      <p:sp>
        <p:nvSpPr>
          <p:cNvPr id="14" name="AutoShape 14"/>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15" name="AutoShape 15"/>
          <p:cNvSpPr/>
          <p:nvPr/>
        </p:nvSpPr>
        <p:spPr>
          <a:xfrm>
            <a:off x="0" y="9629775"/>
            <a:ext cx="18288000" cy="0"/>
          </a:xfrm>
          <a:prstGeom prst="line">
            <a:avLst/>
          </a:prstGeom>
          <a:ln w="19050" cap="flat">
            <a:solidFill>
              <a:srgbClr val="F0F4F8"/>
            </a:solidFill>
            <a:prstDash val="solid"/>
            <a:headEnd type="none" w="sm" len="sm"/>
            <a:tailEnd type="none" w="sm" len="sm"/>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7496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115050" cy="10287000"/>
            <a:chOff x="0" y="0"/>
            <a:chExt cx="947381" cy="1593725"/>
          </a:xfrm>
        </p:grpSpPr>
        <p:sp>
          <p:nvSpPr>
            <p:cNvPr id="3" name="Freeform 3"/>
            <p:cNvSpPr/>
            <p:nvPr/>
          </p:nvSpPr>
          <p:spPr>
            <a:xfrm>
              <a:off x="0" y="0"/>
              <a:ext cx="947381" cy="1593725"/>
            </a:xfrm>
            <a:custGeom>
              <a:avLst/>
              <a:gdLst/>
              <a:ahLst/>
              <a:cxnLst/>
              <a:rect l="l" t="t" r="r" b="b"/>
              <a:pathLst>
                <a:path w="947381" h="1593725">
                  <a:moveTo>
                    <a:pt x="0" y="0"/>
                  </a:moveTo>
                  <a:lnTo>
                    <a:pt x="947381" y="0"/>
                  </a:lnTo>
                  <a:lnTo>
                    <a:pt x="947381" y="1593725"/>
                  </a:lnTo>
                  <a:lnTo>
                    <a:pt x="0" y="1593725"/>
                  </a:lnTo>
                  <a:close/>
                </a:path>
              </a:pathLst>
            </a:custGeom>
            <a:blipFill>
              <a:blip r:embed="rId2"/>
              <a:stretch>
                <a:fillRect t="-58" b="-58"/>
              </a:stretch>
            </a:blipFill>
          </p:spPr>
          <p:txBody>
            <a:bodyPr/>
            <a:lstStyle/>
            <a:p>
              <a:endParaRPr lang="en-IN"/>
            </a:p>
          </p:txBody>
        </p:sp>
      </p:grpSp>
      <p:sp>
        <p:nvSpPr>
          <p:cNvPr id="4" name="TextBox 4"/>
          <p:cNvSpPr txBox="1"/>
          <p:nvPr/>
        </p:nvSpPr>
        <p:spPr>
          <a:xfrm>
            <a:off x="7858125" y="1743075"/>
            <a:ext cx="9763125" cy="1282065"/>
          </a:xfrm>
          <a:prstGeom prst="rect">
            <a:avLst/>
          </a:prstGeom>
        </p:spPr>
        <p:txBody>
          <a:bodyPr lIns="0" tIns="0" rIns="0" bIns="0" rtlCol="0" anchor="t">
            <a:spAutoFit/>
          </a:bodyPr>
          <a:lstStyle/>
          <a:p>
            <a:pPr marL="0" lvl="0" indent="0" algn="l">
              <a:lnSpc>
                <a:spcPts val="9600"/>
              </a:lnSpc>
            </a:pPr>
            <a:r>
              <a:rPr lang="en-US" sz="9600" u="none" spc="-192">
                <a:solidFill>
                  <a:srgbClr val="F0F4F8"/>
                </a:solidFill>
                <a:latin typeface="Noto Serif Display ExtraCondensed Light"/>
                <a:ea typeface="Noto Serif Display ExtraCondensed Light"/>
                <a:cs typeface="Noto Serif Display ExtraCondensed Light"/>
                <a:sym typeface="Noto Serif Display ExtraCondensed Light"/>
              </a:rPr>
              <a:t>Technology Stack</a:t>
            </a:r>
          </a:p>
        </p:txBody>
      </p:sp>
      <p:sp>
        <p:nvSpPr>
          <p:cNvPr id="5" name="TextBox 5"/>
          <p:cNvSpPr txBox="1"/>
          <p:nvPr/>
        </p:nvSpPr>
        <p:spPr>
          <a:xfrm>
            <a:off x="9296400" y="4248150"/>
            <a:ext cx="8324850" cy="361950"/>
          </a:xfrm>
          <a:prstGeom prst="rect">
            <a:avLst/>
          </a:prstGeom>
        </p:spPr>
        <p:txBody>
          <a:bodyPr lIns="0" tIns="0" rIns="0" bIns="0" rtlCol="0" anchor="t">
            <a:spAutoFit/>
          </a:bodyPr>
          <a:lstStyle/>
          <a:p>
            <a:pPr marL="0" lvl="0" indent="0" algn="l">
              <a:lnSpc>
                <a:spcPts val="2879"/>
              </a:lnSpc>
            </a:pPr>
            <a:r>
              <a:rPr lang="en-US" sz="2400" u="none" strike="noStrike" dirty="0">
                <a:solidFill>
                  <a:srgbClr val="F0F4F8"/>
                </a:solidFill>
                <a:latin typeface="HK Grotesk"/>
                <a:ea typeface="HK Grotesk"/>
                <a:cs typeface="HK Grotesk"/>
                <a:sym typeface="HK Grotesk"/>
              </a:rPr>
              <a:t>Python serves as the primary programming language used.</a:t>
            </a:r>
          </a:p>
        </p:txBody>
      </p:sp>
      <p:sp>
        <p:nvSpPr>
          <p:cNvPr id="8" name="TextBox 8"/>
          <p:cNvSpPr txBox="1"/>
          <p:nvPr/>
        </p:nvSpPr>
        <p:spPr>
          <a:xfrm>
            <a:off x="7858125" y="4286250"/>
            <a:ext cx="1133475" cy="327660"/>
          </a:xfrm>
          <a:prstGeom prst="rect">
            <a:avLst/>
          </a:prstGeom>
        </p:spPr>
        <p:txBody>
          <a:bodyPr lIns="0" tIns="0" rIns="0" bIns="0" rtlCol="0" anchor="t">
            <a:spAutoFit/>
          </a:bodyPr>
          <a:lstStyle/>
          <a:p>
            <a:pPr marL="0" lvl="0" indent="0" algn="l">
              <a:lnSpc>
                <a:spcPts val="2400"/>
              </a:lnSpc>
            </a:pPr>
            <a:r>
              <a:rPr lang="en-US" sz="2400" b="1" dirty="0">
                <a:solidFill>
                  <a:srgbClr val="F0F4F8"/>
                </a:solidFill>
                <a:latin typeface="HK Grotesk Bold"/>
                <a:ea typeface="HK Grotesk Bold"/>
                <a:cs typeface="HK Grotesk Bold"/>
                <a:sym typeface="HK Grotesk Bold"/>
              </a:rPr>
              <a:t>01</a:t>
            </a:r>
          </a:p>
        </p:txBody>
      </p:sp>
      <p:sp>
        <p:nvSpPr>
          <p:cNvPr id="11" name="AutoShape 11"/>
          <p:cNvSpPr/>
          <p:nvPr/>
        </p:nvSpPr>
        <p:spPr>
          <a:xfrm>
            <a:off x="6115050" y="676275"/>
            <a:ext cx="12172950" cy="0"/>
          </a:xfrm>
          <a:prstGeom prst="line">
            <a:avLst/>
          </a:prstGeom>
          <a:ln w="19050" cap="flat">
            <a:solidFill>
              <a:srgbClr val="F0F4F8"/>
            </a:solidFill>
            <a:prstDash val="solid"/>
            <a:headEnd type="none" w="sm" len="sm"/>
            <a:tailEnd type="none" w="sm" len="sm"/>
          </a:ln>
        </p:spPr>
        <p:txBody>
          <a:bodyPr/>
          <a:lstStyle/>
          <a:p>
            <a:endParaRPr lang="en-IN"/>
          </a:p>
        </p:txBody>
      </p:sp>
      <p:sp>
        <p:nvSpPr>
          <p:cNvPr id="12" name="AutoShape 12"/>
          <p:cNvSpPr/>
          <p:nvPr/>
        </p:nvSpPr>
        <p:spPr>
          <a:xfrm>
            <a:off x="6115050" y="9620250"/>
            <a:ext cx="12172950" cy="0"/>
          </a:xfrm>
          <a:prstGeom prst="line">
            <a:avLst/>
          </a:prstGeom>
          <a:ln w="19050" cap="flat">
            <a:solidFill>
              <a:srgbClr val="F0F4F8"/>
            </a:solidFill>
            <a:prstDash val="solid"/>
            <a:headEnd type="none" w="sm" len="sm"/>
            <a:tailEnd type="none" w="sm" len="sm"/>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4" name="AutoShape 4"/>
          <p:cNvSpPr/>
          <p:nvPr/>
        </p:nvSpPr>
        <p:spPr>
          <a:xfrm flipV="1">
            <a:off x="0" y="666749"/>
            <a:ext cx="18288000" cy="1"/>
          </a:xfrm>
          <a:prstGeom prst="line">
            <a:avLst/>
          </a:prstGeom>
          <a:ln w="19050" cap="flat">
            <a:solidFill>
              <a:srgbClr val="F0F4F8"/>
            </a:solidFill>
            <a:prstDash val="solid"/>
            <a:headEnd type="none" w="sm" len="sm"/>
            <a:tailEnd type="none" w="sm" len="sm"/>
          </a:ln>
        </p:spPr>
        <p:txBody>
          <a:bodyPr/>
          <a:lstStyle/>
          <a:p>
            <a:endParaRPr lang="en-IN"/>
          </a:p>
        </p:txBody>
      </p:sp>
      <p:sp>
        <p:nvSpPr>
          <p:cNvPr id="5" name="AutoShape 5"/>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6" name="TextBox 6"/>
          <p:cNvSpPr txBox="1"/>
          <p:nvPr/>
        </p:nvSpPr>
        <p:spPr>
          <a:xfrm>
            <a:off x="666750" y="1743920"/>
            <a:ext cx="6886575" cy="250126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System Architecture</a:t>
            </a:r>
          </a:p>
        </p:txBody>
      </p:sp>
      <p:sp>
        <p:nvSpPr>
          <p:cNvPr id="7" name="TextBox 7"/>
          <p:cNvSpPr txBox="1"/>
          <p:nvPr/>
        </p:nvSpPr>
        <p:spPr>
          <a:xfrm>
            <a:off x="666750" y="5467350"/>
            <a:ext cx="5448300" cy="3257550"/>
          </a:xfrm>
          <a:prstGeom prst="rect">
            <a:avLst/>
          </a:prstGeom>
        </p:spPr>
        <p:txBody>
          <a:bodyPr lIns="0" tIns="0" rIns="0" bIns="0" rtlCol="0" anchor="t">
            <a:spAutoFit/>
          </a:bodyPr>
          <a:lstStyle/>
          <a:p>
            <a:pPr marL="0" lvl="0" indent="0" algn="l">
              <a:lnSpc>
                <a:spcPts val="2879"/>
              </a:lnSpc>
            </a:pPr>
            <a:r>
              <a:rPr lang="en-US" sz="2400" u="none" strike="noStrike">
                <a:solidFill>
                  <a:srgbClr val="F0F4F8"/>
                </a:solidFill>
                <a:latin typeface="HK Grotesk"/>
                <a:ea typeface="HK Grotesk"/>
                <a:cs typeface="HK Grotesk"/>
                <a:sym typeface="HK Grotesk"/>
              </a:rPr>
              <a:t>The layered system flow illustrates the interaction between various components of the Smart Inventory and Billing System. This design emphasizes modularity, allowing for efficient communication between modules, ensuring smooth data flow and enhanced user experience throughout the application.</a:t>
            </a:r>
          </a:p>
        </p:txBody>
      </p:sp>
      <p:pic>
        <p:nvPicPr>
          <p:cNvPr id="9" name="Picture 8" descr="A diagram of a company&#10;&#10;AI-generated content may be incorrect.">
            <a:extLst>
              <a:ext uri="{FF2B5EF4-FFF2-40B4-BE49-F238E27FC236}">
                <a16:creationId xmlns:a16="http://schemas.microsoft.com/office/drawing/2014/main" id="{C8F6476C-2125-DE48-924D-2F6FFB9E743C}"/>
              </a:ext>
            </a:extLst>
          </p:cNvPr>
          <p:cNvPicPr>
            <a:picLocks noChangeAspect="1"/>
          </p:cNvPicPr>
          <p:nvPr/>
        </p:nvPicPr>
        <p:blipFill>
          <a:blip r:embed="rId2">
            <a:extLst>
              <a:ext uri="{28A0092B-C50C-407E-A947-70E740481C1C}">
                <a14:useLocalDpi xmlns:a14="http://schemas.microsoft.com/office/drawing/2010/main" val="0"/>
              </a:ext>
            </a:extLst>
          </a:blip>
          <a:srcRect b="3838"/>
          <a:stretch>
            <a:fillRect/>
          </a:stretch>
        </p:blipFill>
        <p:spPr>
          <a:xfrm>
            <a:off x="9296400" y="552452"/>
            <a:ext cx="6515100" cy="90677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850"/>
        </a:solidFill>
        <a:effectLst/>
      </p:bgPr>
    </p:bg>
    <p:spTree>
      <p:nvGrpSpPr>
        <p:cNvPr id="1" name=""/>
        <p:cNvGrpSpPr/>
        <p:nvPr/>
      </p:nvGrpSpPr>
      <p:grpSpPr>
        <a:xfrm>
          <a:off x="0" y="0"/>
          <a:ext cx="0" cy="0"/>
          <a:chOff x="0" y="0"/>
          <a:chExt cx="0" cy="0"/>
        </a:xfrm>
      </p:grpSpPr>
      <p:sp>
        <p:nvSpPr>
          <p:cNvPr id="3" name="AutoShape 3"/>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4" name="AutoShape 4"/>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14" name="TextBox 14"/>
          <p:cNvSpPr txBox="1"/>
          <p:nvPr/>
        </p:nvSpPr>
        <p:spPr>
          <a:xfrm>
            <a:off x="666750" y="1756410"/>
            <a:ext cx="15821025" cy="1282065"/>
          </a:xfrm>
          <a:prstGeom prst="rect">
            <a:avLst/>
          </a:prstGeom>
        </p:spPr>
        <p:txBody>
          <a:bodyPr lIns="0" tIns="0" rIns="0" bIns="0" rtlCol="0" anchor="t">
            <a:spAutoFit/>
          </a:bodyPr>
          <a:lstStyle/>
          <a:p>
            <a:pPr marL="0" lvl="0" indent="0" algn="l">
              <a:lnSpc>
                <a:spcPts val="9600"/>
              </a:lnSpc>
              <a:spcBef>
                <a:spcPct val="0"/>
              </a:spcBef>
            </a:pPr>
            <a:r>
              <a:rPr lang="en-US" sz="9600" u="none" strike="noStrike" spc="-192">
                <a:solidFill>
                  <a:srgbClr val="F0F4F8"/>
                </a:solidFill>
                <a:latin typeface="Noto Serif Display ExtraCondensed Light"/>
                <a:ea typeface="Noto Serif Display ExtraCondensed Light"/>
                <a:cs typeface="Noto Serif Display ExtraCondensed Light"/>
                <a:sym typeface="Noto Serif Display ExtraCondensed Light"/>
              </a:rPr>
              <a:t>SDLC Model Overview</a:t>
            </a:r>
          </a:p>
        </p:txBody>
      </p:sp>
      <p:pic>
        <p:nvPicPr>
          <p:cNvPr id="22" name="Picture 21" descr="A diagram of a smart inventory system&#10;&#10;AI-generated content may be incorrect.">
            <a:extLst>
              <a:ext uri="{FF2B5EF4-FFF2-40B4-BE49-F238E27FC236}">
                <a16:creationId xmlns:a16="http://schemas.microsoft.com/office/drawing/2014/main" id="{D1EBF0B0-25CA-ECE6-C05F-6A463CD7CC65}"/>
              </a:ext>
            </a:extLst>
          </p:cNvPr>
          <p:cNvPicPr>
            <a:picLocks noChangeAspect="1"/>
          </p:cNvPicPr>
          <p:nvPr/>
        </p:nvPicPr>
        <p:blipFill>
          <a:blip r:embed="rId2">
            <a:extLst>
              <a:ext uri="{28A0092B-C50C-407E-A947-70E740481C1C}">
                <a14:useLocalDpi xmlns:a14="http://schemas.microsoft.com/office/drawing/2010/main" val="0"/>
              </a:ext>
            </a:extLst>
          </a:blip>
          <a:srcRect b="7399"/>
          <a:stretch>
            <a:fillRect/>
          </a:stretch>
        </p:blipFill>
        <p:spPr>
          <a:xfrm>
            <a:off x="5410200" y="2781300"/>
            <a:ext cx="9906000" cy="60197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7496D"/>
        </a:solidFill>
        <a:effectLst/>
      </p:bgPr>
    </p:bg>
    <p:spTree>
      <p:nvGrpSpPr>
        <p:cNvPr id="1" name=""/>
        <p:cNvGrpSpPr/>
        <p:nvPr/>
      </p:nvGrpSpPr>
      <p:grpSpPr>
        <a:xfrm>
          <a:off x="0" y="0"/>
          <a:ext cx="0" cy="0"/>
          <a:chOff x="0" y="0"/>
          <a:chExt cx="0" cy="0"/>
        </a:xfrm>
      </p:grpSpPr>
      <p:grpSp>
        <p:nvGrpSpPr>
          <p:cNvPr id="2" name="Group 2"/>
          <p:cNvGrpSpPr/>
          <p:nvPr/>
        </p:nvGrpSpPr>
        <p:grpSpPr>
          <a:xfrm>
            <a:off x="666750" y="6038850"/>
            <a:ext cx="6886575" cy="2382232"/>
            <a:chOff x="0" y="0"/>
            <a:chExt cx="9182100" cy="3176309"/>
          </a:xfrm>
        </p:grpSpPr>
        <p:sp>
          <p:nvSpPr>
            <p:cNvPr id="3" name="TextBox 3"/>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Functional Requirements</a:t>
              </a:r>
            </a:p>
          </p:txBody>
        </p:sp>
        <p:sp>
          <p:nvSpPr>
            <p:cNvPr id="4" name="TextBox 4"/>
            <p:cNvSpPr txBox="1"/>
            <p:nvPr/>
          </p:nvSpPr>
          <p:spPr>
            <a:xfrm>
              <a:off x="0" y="1193800"/>
              <a:ext cx="9182100" cy="1982509"/>
            </a:xfrm>
            <a:prstGeom prst="rect">
              <a:avLst/>
            </a:prstGeom>
          </p:spPr>
          <p:txBody>
            <a:bodyPr lIns="0" tIns="0" rIns="0" bIns="0" rtlCol="0" anchor="t">
              <a:spAutoFit/>
            </a:bodyPr>
            <a:lstStyle/>
            <a:p>
              <a:pPr marL="0" lvl="0" indent="0" algn="l">
                <a:lnSpc>
                  <a:spcPts val="2879"/>
                </a:lnSpc>
              </a:pPr>
              <a:r>
                <a:rPr lang="en-US" sz="2400" u="none" strike="noStrike" dirty="0">
                  <a:solidFill>
                    <a:srgbClr val="F0F4F8"/>
                  </a:solidFill>
                  <a:latin typeface="HK Grotesk"/>
                  <a:ea typeface="HK Grotesk"/>
                  <a:cs typeface="HK Grotesk"/>
                  <a:sym typeface="HK Grotesk"/>
                </a:rPr>
                <a:t>The system must provide user-friendly </a:t>
              </a:r>
              <a:r>
                <a:rPr lang="en-US" sz="2400" b="1" u="none" strike="noStrike" dirty="0">
                  <a:solidFill>
                    <a:srgbClr val="F0F4F8"/>
                  </a:solidFill>
                  <a:latin typeface="HK Grotesk Bold"/>
                  <a:ea typeface="HK Grotesk Bold"/>
                  <a:cs typeface="HK Grotesk Bold"/>
                  <a:sym typeface="HK Grotesk Bold"/>
                </a:rPr>
                <a:t>interfaces</a:t>
              </a:r>
              <a:r>
                <a:rPr lang="en-US" sz="2400" u="none" strike="noStrike" dirty="0">
                  <a:solidFill>
                    <a:srgbClr val="F0F4F8"/>
                  </a:solidFill>
                  <a:latin typeface="HK Grotesk"/>
                  <a:ea typeface="HK Grotesk"/>
                  <a:cs typeface="HK Grotesk"/>
                  <a:sym typeface="HK Grotesk"/>
                </a:rPr>
                <a:t> for inventory management, allowing users to efficiently to process billing transactions, and generate </a:t>
              </a:r>
              <a:r>
                <a:rPr lang="en-US" sz="2400" b="1" u="none" strike="noStrike" dirty="0">
                  <a:solidFill>
                    <a:srgbClr val="F0F4F8"/>
                  </a:solidFill>
                  <a:latin typeface="HK Grotesk Bold"/>
                  <a:ea typeface="HK Grotesk Bold"/>
                  <a:cs typeface="HK Grotesk Bold"/>
                  <a:sym typeface="HK Grotesk Bold"/>
                </a:rPr>
                <a:t>detailed reports</a:t>
              </a:r>
              <a:r>
                <a:rPr lang="en-US" sz="2400" u="none" strike="noStrike" dirty="0">
                  <a:solidFill>
                    <a:srgbClr val="F0F4F8"/>
                  </a:solidFill>
                  <a:latin typeface="HK Grotesk"/>
                  <a:ea typeface="HK Grotesk"/>
                  <a:cs typeface="HK Grotesk"/>
                  <a:sym typeface="HK Grotesk"/>
                </a:rPr>
                <a:t> for easy access.</a:t>
              </a:r>
            </a:p>
          </p:txBody>
        </p:sp>
      </p:grpSp>
      <p:grpSp>
        <p:nvGrpSpPr>
          <p:cNvPr id="5" name="Group 5"/>
          <p:cNvGrpSpPr/>
          <p:nvPr/>
        </p:nvGrpSpPr>
        <p:grpSpPr>
          <a:xfrm>
            <a:off x="9296400" y="6038850"/>
            <a:ext cx="6886575" cy="2705100"/>
            <a:chOff x="0" y="0"/>
            <a:chExt cx="9182100" cy="3606800"/>
          </a:xfrm>
        </p:grpSpPr>
        <p:sp>
          <p:nvSpPr>
            <p:cNvPr id="6" name="TextBox 6"/>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Non-Functional Requirements</a:t>
              </a:r>
            </a:p>
          </p:txBody>
        </p:sp>
        <p:sp>
          <p:nvSpPr>
            <p:cNvPr id="7" name="TextBox 7"/>
            <p:cNvSpPr txBox="1"/>
            <p:nvPr/>
          </p:nvSpPr>
          <p:spPr>
            <a:xfrm>
              <a:off x="0" y="1193800"/>
              <a:ext cx="9182100" cy="2413000"/>
            </a:xfrm>
            <a:prstGeom prst="rect">
              <a:avLst/>
            </a:prstGeom>
          </p:spPr>
          <p:txBody>
            <a:bodyPr lIns="0" tIns="0" rIns="0" bIns="0" rtlCol="0" anchor="t">
              <a:spAutoFit/>
            </a:bodyPr>
            <a:lstStyle/>
            <a:p>
              <a:pPr marL="0" lvl="0" indent="0" algn="l">
                <a:lnSpc>
                  <a:spcPts val="2879"/>
                </a:lnSpc>
              </a:pPr>
              <a:r>
                <a:rPr lang="en-US" sz="2400" u="none" strike="noStrike" dirty="0">
                  <a:solidFill>
                    <a:srgbClr val="F0F4F8"/>
                  </a:solidFill>
                  <a:latin typeface="HK Grotesk"/>
                  <a:ea typeface="HK Grotesk"/>
                  <a:cs typeface="HK Grotesk"/>
                  <a:sym typeface="HK Grotesk"/>
                </a:rPr>
                <a:t>The application should ensure quick response times even under high load, maintain a secure environment for user data, and provide a seamless interface across various devices to enhance user experience.</a:t>
              </a:r>
            </a:p>
          </p:txBody>
        </p:sp>
      </p:grpSp>
      <p:grpSp>
        <p:nvGrpSpPr>
          <p:cNvPr id="8" name="Group 8"/>
          <p:cNvGrpSpPr/>
          <p:nvPr/>
        </p:nvGrpSpPr>
        <p:grpSpPr>
          <a:xfrm>
            <a:off x="666750" y="1562100"/>
            <a:ext cx="16954500" cy="2209800"/>
            <a:chOff x="0" y="0"/>
            <a:chExt cx="22606000" cy="2946400"/>
          </a:xfrm>
        </p:grpSpPr>
        <p:sp>
          <p:nvSpPr>
            <p:cNvPr id="9" name="TextBox 9"/>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Requirement Analysis</a:t>
              </a:r>
            </a:p>
          </p:txBody>
        </p:sp>
        <p:sp>
          <p:nvSpPr>
            <p:cNvPr id="10" name="TextBox 10"/>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Functional and Non-Functional Specifications</a:t>
              </a:r>
            </a:p>
          </p:txBody>
        </p:sp>
      </p:grpSp>
      <p:sp>
        <p:nvSpPr>
          <p:cNvPr id="11" name="AutoShape 11"/>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12" name="AutoShape 12"/>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4" name="AutoShape 4"/>
          <p:cNvSpPr/>
          <p:nvPr/>
        </p:nvSpPr>
        <p:spPr>
          <a:xfrm flipV="1">
            <a:off x="0" y="675143"/>
            <a:ext cx="18288000" cy="2"/>
          </a:xfrm>
          <a:prstGeom prst="line">
            <a:avLst/>
          </a:prstGeom>
          <a:ln w="19050" cap="flat">
            <a:solidFill>
              <a:srgbClr val="F0F4F8"/>
            </a:solidFill>
            <a:prstDash val="solid"/>
            <a:headEnd type="none" w="sm" len="sm"/>
            <a:tailEnd type="none" w="sm" len="sm"/>
          </a:ln>
        </p:spPr>
        <p:txBody>
          <a:bodyPr/>
          <a:lstStyle/>
          <a:p>
            <a:endParaRPr lang="en-IN"/>
          </a:p>
        </p:txBody>
      </p:sp>
      <p:sp>
        <p:nvSpPr>
          <p:cNvPr id="5" name="AutoShape 5"/>
          <p:cNvSpPr/>
          <p:nvPr/>
        </p:nvSpPr>
        <p:spPr>
          <a:xfrm flipV="1">
            <a:off x="0" y="9611851"/>
            <a:ext cx="18288000" cy="3"/>
          </a:xfrm>
          <a:prstGeom prst="line">
            <a:avLst/>
          </a:prstGeom>
          <a:ln w="19050" cap="flat">
            <a:solidFill>
              <a:srgbClr val="F0F4F8"/>
            </a:solidFill>
            <a:prstDash val="solid"/>
            <a:headEnd type="none" w="sm" len="sm"/>
            <a:tailEnd type="none" w="sm" len="sm"/>
          </a:ln>
        </p:spPr>
        <p:txBody>
          <a:bodyPr/>
          <a:lstStyle/>
          <a:p>
            <a:endParaRPr lang="en-IN"/>
          </a:p>
        </p:txBody>
      </p:sp>
      <p:sp>
        <p:nvSpPr>
          <p:cNvPr id="6" name="TextBox 6"/>
          <p:cNvSpPr txBox="1"/>
          <p:nvPr/>
        </p:nvSpPr>
        <p:spPr>
          <a:xfrm>
            <a:off x="666750" y="1743920"/>
            <a:ext cx="6886575" cy="128206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System Design</a:t>
            </a:r>
          </a:p>
        </p:txBody>
      </p:sp>
      <p:sp>
        <p:nvSpPr>
          <p:cNvPr id="7" name="TextBox 7"/>
          <p:cNvSpPr txBox="1"/>
          <p:nvPr/>
        </p:nvSpPr>
        <p:spPr>
          <a:xfrm>
            <a:off x="666750" y="5829300"/>
            <a:ext cx="5448300" cy="2895600"/>
          </a:xfrm>
          <a:prstGeom prst="rect">
            <a:avLst/>
          </a:prstGeom>
        </p:spPr>
        <p:txBody>
          <a:bodyPr lIns="0" tIns="0" rIns="0" bIns="0" rtlCol="0" anchor="t">
            <a:spAutoFit/>
          </a:bodyPr>
          <a:lstStyle/>
          <a:p>
            <a:pPr marL="0" lvl="0" indent="0" algn="l">
              <a:lnSpc>
                <a:spcPts val="2879"/>
              </a:lnSpc>
            </a:pPr>
            <a:r>
              <a:rPr lang="en-US" sz="2400" u="none" strike="noStrike">
                <a:solidFill>
                  <a:srgbClr val="F0F4F8"/>
                </a:solidFill>
                <a:latin typeface="HK Grotesk"/>
                <a:ea typeface="HK Grotesk"/>
                <a:cs typeface="HK Grotesk"/>
                <a:sym typeface="HK Grotesk"/>
              </a:rPr>
              <a:t>This page showcases the </a:t>
            </a:r>
            <a:r>
              <a:rPr lang="en-US" sz="2400" b="1" u="none" strike="noStrike">
                <a:solidFill>
                  <a:srgbClr val="F0F4F8"/>
                </a:solidFill>
                <a:latin typeface="HK Grotesk Bold"/>
                <a:ea typeface="HK Grotesk Bold"/>
                <a:cs typeface="HK Grotesk Bold"/>
                <a:sym typeface="HK Grotesk Bold"/>
              </a:rPr>
              <a:t>critical components</a:t>
            </a:r>
            <a:r>
              <a:rPr lang="en-US" sz="2400" u="none" strike="noStrike">
                <a:solidFill>
                  <a:srgbClr val="F0F4F8"/>
                </a:solidFill>
                <a:latin typeface="HK Grotesk"/>
                <a:ea typeface="HK Grotesk"/>
                <a:cs typeface="HK Grotesk"/>
                <a:sym typeface="HK Grotesk"/>
              </a:rPr>
              <a:t> of our Smart Inventory System, including the use case diagram, data flow diagram (DFD), and user interface mockups. These elements illustrate how various features interact to achieve operational efficiency and user satisfaction.</a:t>
            </a:r>
          </a:p>
        </p:txBody>
      </p:sp>
      <p:pic>
        <p:nvPicPr>
          <p:cNvPr id="11" name="Picture 10" descr="A diagram of a smart inventory system&#10;&#10;AI-generated content may be incorrect.">
            <a:extLst>
              <a:ext uri="{FF2B5EF4-FFF2-40B4-BE49-F238E27FC236}">
                <a16:creationId xmlns:a16="http://schemas.microsoft.com/office/drawing/2014/main" id="{ACB91EE5-1AD1-365C-C3D1-215B62026265}"/>
              </a:ext>
            </a:extLst>
          </p:cNvPr>
          <p:cNvPicPr>
            <a:picLocks noChangeAspect="1"/>
          </p:cNvPicPr>
          <p:nvPr/>
        </p:nvPicPr>
        <p:blipFill>
          <a:blip r:embed="rId2">
            <a:extLst>
              <a:ext uri="{28A0092B-C50C-407E-A947-70E740481C1C}">
                <a14:useLocalDpi xmlns:a14="http://schemas.microsoft.com/office/drawing/2010/main" val="0"/>
              </a:ext>
            </a:extLst>
          </a:blip>
          <a:srcRect b="6481"/>
          <a:stretch>
            <a:fillRect/>
          </a:stretch>
        </p:blipFill>
        <p:spPr>
          <a:xfrm>
            <a:off x="8686800" y="336023"/>
            <a:ext cx="7411306" cy="92842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850"/>
        </a:solidFill>
        <a:effectLst/>
      </p:bgPr>
    </p:bg>
    <p:spTree>
      <p:nvGrpSpPr>
        <p:cNvPr id="1" name=""/>
        <p:cNvGrpSpPr/>
        <p:nvPr/>
      </p:nvGrpSpPr>
      <p:grpSpPr>
        <a:xfrm>
          <a:off x="0" y="0"/>
          <a:ext cx="0" cy="0"/>
          <a:chOff x="0" y="0"/>
          <a:chExt cx="0" cy="0"/>
        </a:xfrm>
      </p:grpSpPr>
      <p:sp>
        <p:nvSpPr>
          <p:cNvPr id="6" name="TextBox 6"/>
          <p:cNvSpPr txBox="1"/>
          <p:nvPr/>
        </p:nvSpPr>
        <p:spPr>
          <a:xfrm>
            <a:off x="666750" y="1743920"/>
            <a:ext cx="6886575" cy="3720465"/>
          </a:xfrm>
          <a:prstGeom prst="rect">
            <a:avLst/>
          </a:prstGeom>
        </p:spPr>
        <p:txBody>
          <a:bodyPr lIns="0" tIns="0" rIns="0" bIns="0" rtlCol="0" anchor="t">
            <a:spAutoFit/>
          </a:bodyPr>
          <a:lstStyle/>
          <a:p>
            <a:pPr marL="0" lvl="0" indent="0" algn="l">
              <a:lnSpc>
                <a:spcPts val="9600"/>
              </a:lnSpc>
            </a:pPr>
            <a:r>
              <a:rPr lang="en-US" sz="9600" spc="-192" dirty="0">
                <a:solidFill>
                  <a:srgbClr val="F0F4F8"/>
                </a:solidFill>
                <a:latin typeface="Noto Serif Display ExtraCondensed Light"/>
                <a:ea typeface="Noto Serif Display ExtraCondensed Light"/>
                <a:cs typeface="Noto Serif Display ExtraCondensed Light"/>
                <a:sym typeface="Noto Serif Display ExtraCondensed Light"/>
              </a:rPr>
              <a:t>Database Schema Overview</a:t>
            </a:r>
          </a:p>
        </p:txBody>
      </p:sp>
      <p:sp>
        <p:nvSpPr>
          <p:cNvPr id="7" name="AutoShape 7"/>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8" name="AutoShape 8"/>
          <p:cNvSpPr/>
          <p:nvPr/>
        </p:nvSpPr>
        <p:spPr>
          <a:xfrm>
            <a:off x="0" y="9629775"/>
            <a:ext cx="18288000" cy="0"/>
          </a:xfrm>
          <a:prstGeom prst="line">
            <a:avLst/>
          </a:prstGeom>
          <a:ln w="19050" cap="flat">
            <a:solidFill>
              <a:srgbClr val="F0F4F8"/>
            </a:solidFill>
            <a:prstDash val="solid"/>
            <a:headEnd type="none" w="sm" len="sm"/>
            <a:tailEnd type="none" w="sm" len="sm"/>
          </a:ln>
        </p:spPr>
        <p:txBody>
          <a:bodyPr/>
          <a:lstStyle/>
          <a:p>
            <a:endParaRPr lang="en-IN"/>
          </a:p>
        </p:txBody>
      </p:sp>
      <p:pic>
        <p:nvPicPr>
          <p:cNvPr id="10" name="Picture 9" descr="A screen shot of a computer&#10;&#10;AI-generated content may be incorrect.">
            <a:extLst>
              <a:ext uri="{FF2B5EF4-FFF2-40B4-BE49-F238E27FC236}">
                <a16:creationId xmlns:a16="http://schemas.microsoft.com/office/drawing/2014/main" id="{FF6EBDDD-DE90-9058-C3D3-400E7EA757CD}"/>
              </a:ext>
            </a:extLst>
          </p:cNvPr>
          <p:cNvPicPr>
            <a:picLocks noChangeAspect="1"/>
          </p:cNvPicPr>
          <p:nvPr/>
        </p:nvPicPr>
        <p:blipFill>
          <a:blip r:embed="rId2">
            <a:extLst>
              <a:ext uri="{28A0092B-C50C-407E-A947-70E740481C1C}">
                <a14:useLocalDpi xmlns:a14="http://schemas.microsoft.com/office/drawing/2010/main" val="0"/>
              </a:ext>
            </a:extLst>
          </a:blip>
          <a:srcRect b="7878"/>
          <a:stretch>
            <a:fillRect/>
          </a:stretch>
        </p:blipFill>
        <p:spPr>
          <a:xfrm>
            <a:off x="9906000" y="1423040"/>
            <a:ext cx="6245739" cy="3720460"/>
          </a:xfrm>
          <a:prstGeom prst="rect">
            <a:avLst/>
          </a:prstGeom>
        </p:spPr>
      </p:pic>
      <p:sp>
        <p:nvSpPr>
          <p:cNvPr id="11" name="TextBox 10">
            <a:extLst>
              <a:ext uri="{FF2B5EF4-FFF2-40B4-BE49-F238E27FC236}">
                <a16:creationId xmlns:a16="http://schemas.microsoft.com/office/drawing/2014/main" id="{3BD0F9EE-0C5C-0786-F6B8-CB40BDAD4D9D}"/>
              </a:ext>
            </a:extLst>
          </p:cNvPr>
          <p:cNvSpPr txBox="1"/>
          <p:nvPr/>
        </p:nvSpPr>
        <p:spPr>
          <a:xfrm>
            <a:off x="1371600" y="5905500"/>
            <a:ext cx="10668000" cy="2585323"/>
          </a:xfrm>
          <a:prstGeom prst="rect">
            <a:avLst/>
          </a:prstGeom>
          <a:noFill/>
        </p:spPr>
        <p:txBody>
          <a:bodyPr wrap="square" rtlCol="0">
            <a:spAutoFit/>
          </a:bodyPr>
          <a:lstStyle/>
          <a:p>
            <a:r>
              <a:rPr lang="en-US" sz="2400" dirty="0">
                <a:solidFill>
                  <a:schemeClr val="bg1"/>
                </a:solidFill>
              </a:rPr>
              <a:t>The Smart Inventory &amp; Billing System uses a structured data model to ensure efficiency and reliability.</a:t>
            </a:r>
          </a:p>
          <a:p>
            <a:r>
              <a:rPr lang="en-US" sz="2400" b="1" dirty="0">
                <a:solidFill>
                  <a:schemeClr val="bg1"/>
                </a:solidFill>
              </a:rPr>
              <a:t>Products Table:</a:t>
            </a:r>
            <a:r>
              <a:rPr lang="en-US" sz="2400" dirty="0">
                <a:solidFill>
                  <a:schemeClr val="bg1"/>
                </a:solidFill>
              </a:rPr>
              <a:t> Stores product ID, name, price, and quantity.</a:t>
            </a:r>
          </a:p>
          <a:p>
            <a:r>
              <a:rPr lang="en-US" sz="2400" b="1" dirty="0">
                <a:solidFill>
                  <a:schemeClr val="bg1"/>
                </a:solidFill>
              </a:rPr>
              <a:t>Users Table:</a:t>
            </a:r>
            <a:r>
              <a:rPr lang="en-US" sz="2400" dirty="0">
                <a:solidFill>
                  <a:schemeClr val="bg1"/>
                </a:solidFill>
              </a:rPr>
              <a:t> Maintains login credentials and role-based access.</a:t>
            </a:r>
          </a:p>
          <a:p>
            <a:r>
              <a:rPr lang="en-US" sz="2400" b="1" dirty="0">
                <a:solidFill>
                  <a:schemeClr val="bg1"/>
                </a:solidFill>
              </a:rPr>
              <a:t>Bills Table:</a:t>
            </a:r>
            <a:r>
              <a:rPr lang="en-US" sz="2400" dirty="0">
                <a:solidFill>
                  <a:schemeClr val="bg1"/>
                </a:solidFill>
              </a:rPr>
              <a:t> Records billing transactions, including date, items, and totals.</a:t>
            </a:r>
          </a:p>
          <a:p>
            <a:r>
              <a:rPr lang="en-US" sz="2400" b="1" dirty="0">
                <a:solidFill>
                  <a:schemeClr val="bg1"/>
                </a:solidFill>
              </a:rPr>
              <a:t>Logs Table:</a:t>
            </a:r>
            <a:r>
              <a:rPr lang="en-US" sz="2400" dirty="0">
                <a:solidFill>
                  <a:schemeClr val="bg1"/>
                </a:solidFill>
              </a:rPr>
              <a:t> Tracks activities and errors for auditing.</a:t>
            </a:r>
          </a:p>
          <a:p>
            <a:endParaRPr lang="en-IN"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7496D"/>
        </a:solidFill>
        <a:effectLst/>
      </p:bgPr>
    </p:bg>
    <p:spTree>
      <p:nvGrpSpPr>
        <p:cNvPr id="1" name=""/>
        <p:cNvGrpSpPr/>
        <p:nvPr/>
      </p:nvGrpSpPr>
      <p:grpSpPr>
        <a:xfrm>
          <a:off x="0" y="0"/>
          <a:ext cx="0" cy="0"/>
          <a:chOff x="0" y="0"/>
          <a:chExt cx="0" cy="0"/>
        </a:xfrm>
      </p:grpSpPr>
      <p:grpSp>
        <p:nvGrpSpPr>
          <p:cNvPr id="2" name="Group 2"/>
          <p:cNvGrpSpPr/>
          <p:nvPr/>
        </p:nvGrpSpPr>
        <p:grpSpPr>
          <a:xfrm>
            <a:off x="666750" y="5619750"/>
            <a:ext cx="4010025" cy="3133725"/>
            <a:chOff x="0" y="0"/>
            <a:chExt cx="5346700" cy="4178300"/>
          </a:xfrm>
        </p:grpSpPr>
        <p:sp>
          <p:nvSpPr>
            <p:cNvPr id="3" name="TextBox 3"/>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User Login</a:t>
              </a:r>
            </a:p>
          </p:txBody>
        </p:sp>
        <p:sp>
          <p:nvSpPr>
            <p:cNvPr id="4" name="TextBox 4"/>
            <p:cNvSpPr txBox="1"/>
            <p:nvPr/>
          </p:nvSpPr>
          <p:spPr>
            <a:xfrm>
              <a:off x="0" y="1235075"/>
              <a:ext cx="5346700" cy="2943225"/>
            </a:xfrm>
            <a:prstGeom prst="rect">
              <a:avLst/>
            </a:prstGeom>
          </p:spPr>
          <p:txBody>
            <a:bodyPr lIns="0" tIns="0" rIns="0" bIns="0" rtlCol="0" anchor="t">
              <a:spAutoFit/>
            </a:bodyPr>
            <a:lstStyle/>
            <a:p>
              <a:pPr marL="0" lvl="0" indent="0" algn="l">
                <a:lnSpc>
                  <a:spcPts val="2531"/>
                </a:lnSpc>
                <a:spcBef>
                  <a:spcPct val="0"/>
                </a:spcBef>
              </a:pPr>
              <a:r>
                <a:rPr lang="en-US" sz="2109" u="none" strike="noStrike">
                  <a:solidFill>
                    <a:srgbClr val="F0F4F8"/>
                  </a:solidFill>
                  <a:latin typeface="HK Grotesk"/>
                  <a:ea typeface="HK Grotesk"/>
                  <a:cs typeface="HK Grotesk"/>
                  <a:sym typeface="HK Grotesk"/>
                </a:rPr>
                <a:t>The </a:t>
              </a:r>
              <a:r>
                <a:rPr lang="en-US" sz="2109" b="1" u="none" strike="noStrike">
                  <a:solidFill>
                    <a:srgbClr val="F0F4F8"/>
                  </a:solidFill>
                  <a:latin typeface="HK Grotesk Bold"/>
                  <a:ea typeface="HK Grotesk Bold"/>
                  <a:cs typeface="HK Grotesk Bold"/>
                  <a:sym typeface="HK Grotesk Bold"/>
                </a:rPr>
                <a:t>User Login</a:t>
              </a:r>
              <a:r>
                <a:rPr lang="en-US" sz="2109" u="none" strike="noStrike">
                  <a:solidFill>
                    <a:srgbClr val="F0F4F8"/>
                  </a:solidFill>
                  <a:latin typeface="HK Grotesk"/>
                  <a:ea typeface="HK Grotesk"/>
                  <a:cs typeface="HK Grotesk"/>
                  <a:sym typeface="HK Grotesk"/>
                </a:rPr>
                <a:t> module ensures secure access, implementing robust authentication processes to verify user credentials and maintain data integrity within the system. User roles are effectively managed.</a:t>
              </a:r>
            </a:p>
          </p:txBody>
        </p:sp>
      </p:grpSp>
      <p:grpSp>
        <p:nvGrpSpPr>
          <p:cNvPr id="5" name="Group 5"/>
          <p:cNvGrpSpPr/>
          <p:nvPr/>
        </p:nvGrpSpPr>
        <p:grpSpPr>
          <a:xfrm>
            <a:off x="6419850" y="5619750"/>
            <a:ext cx="4010025" cy="3162300"/>
            <a:chOff x="0" y="0"/>
            <a:chExt cx="5346700" cy="4216400"/>
          </a:xfrm>
        </p:grpSpPr>
        <p:sp>
          <p:nvSpPr>
            <p:cNvPr id="6" name="TextBox 6"/>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Inventory Management</a:t>
              </a:r>
            </a:p>
          </p:txBody>
        </p:sp>
        <p:sp>
          <p:nvSpPr>
            <p:cNvPr id="7" name="TextBox 7"/>
            <p:cNvSpPr txBox="1"/>
            <p:nvPr/>
          </p:nvSpPr>
          <p:spPr>
            <a:xfrm>
              <a:off x="0" y="1273175"/>
              <a:ext cx="5346700" cy="2943225"/>
            </a:xfrm>
            <a:prstGeom prst="rect">
              <a:avLst/>
            </a:prstGeom>
          </p:spPr>
          <p:txBody>
            <a:bodyPr lIns="0" tIns="0" rIns="0" bIns="0" rtlCol="0" anchor="t">
              <a:spAutoFit/>
            </a:bodyPr>
            <a:lstStyle/>
            <a:p>
              <a:pPr marL="0" lvl="0" indent="0" algn="l">
                <a:lnSpc>
                  <a:spcPts val="2531"/>
                </a:lnSpc>
                <a:spcBef>
                  <a:spcPct val="0"/>
                </a:spcBef>
              </a:pPr>
              <a:r>
                <a:rPr lang="en-US" sz="2109" u="none" strike="noStrike">
                  <a:solidFill>
                    <a:srgbClr val="F0F4F8"/>
                  </a:solidFill>
                  <a:latin typeface="HK Grotesk"/>
                  <a:ea typeface="HK Grotesk"/>
                  <a:cs typeface="HK Grotesk"/>
                  <a:sym typeface="HK Grotesk"/>
                </a:rPr>
                <a:t>The </a:t>
              </a:r>
              <a:r>
                <a:rPr lang="en-US" sz="2109" b="1" u="none" strike="noStrike">
                  <a:solidFill>
                    <a:srgbClr val="F0F4F8"/>
                  </a:solidFill>
                  <a:latin typeface="HK Grotesk Bold"/>
                  <a:ea typeface="HK Grotesk Bold"/>
                  <a:cs typeface="HK Grotesk Bold"/>
                  <a:sym typeface="HK Grotesk Bold"/>
                </a:rPr>
                <a:t>Inventory Management</a:t>
              </a:r>
              <a:r>
                <a:rPr lang="en-US" sz="2109" u="none" strike="noStrike">
                  <a:solidFill>
                    <a:srgbClr val="F0F4F8"/>
                  </a:solidFill>
                  <a:latin typeface="HK Grotesk"/>
                  <a:ea typeface="HK Grotesk"/>
                  <a:cs typeface="HK Grotesk"/>
                  <a:sym typeface="HK Grotesk"/>
                </a:rPr>
                <a:t> module allows real-time tracking of stock levels, automates reorder processes, and provides detailed insights into product availability, enhancing organizational efficiency and decision-making.</a:t>
              </a:r>
            </a:p>
          </p:txBody>
        </p:sp>
      </p:grpSp>
      <p:grpSp>
        <p:nvGrpSpPr>
          <p:cNvPr id="8" name="Group 8"/>
          <p:cNvGrpSpPr/>
          <p:nvPr/>
        </p:nvGrpSpPr>
        <p:grpSpPr>
          <a:xfrm>
            <a:off x="12172950" y="5619750"/>
            <a:ext cx="4010025" cy="3448050"/>
            <a:chOff x="0" y="0"/>
            <a:chExt cx="5346700" cy="4597400"/>
          </a:xfrm>
        </p:grpSpPr>
        <p:sp>
          <p:nvSpPr>
            <p:cNvPr id="9" name="TextBox 9"/>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Billing System</a:t>
              </a:r>
            </a:p>
          </p:txBody>
        </p:sp>
        <p:sp>
          <p:nvSpPr>
            <p:cNvPr id="10" name="TextBox 10"/>
            <p:cNvSpPr txBox="1"/>
            <p:nvPr/>
          </p:nvSpPr>
          <p:spPr>
            <a:xfrm>
              <a:off x="0" y="1235075"/>
              <a:ext cx="5346700" cy="3362325"/>
            </a:xfrm>
            <a:prstGeom prst="rect">
              <a:avLst/>
            </a:prstGeom>
          </p:spPr>
          <p:txBody>
            <a:bodyPr lIns="0" tIns="0" rIns="0" bIns="0" rtlCol="0" anchor="t">
              <a:spAutoFit/>
            </a:bodyPr>
            <a:lstStyle/>
            <a:p>
              <a:pPr marL="0" lvl="0" indent="0" algn="l">
                <a:lnSpc>
                  <a:spcPts val="2531"/>
                </a:lnSpc>
                <a:spcBef>
                  <a:spcPct val="0"/>
                </a:spcBef>
              </a:pPr>
              <a:r>
                <a:rPr lang="en-US" sz="2109" u="none" strike="noStrike">
                  <a:solidFill>
                    <a:srgbClr val="F0F4F8"/>
                  </a:solidFill>
                  <a:latin typeface="HK Grotesk"/>
                  <a:ea typeface="HK Grotesk"/>
                  <a:cs typeface="HK Grotesk"/>
                  <a:sym typeface="HK Grotesk"/>
                </a:rPr>
                <a:t>The </a:t>
              </a:r>
              <a:r>
                <a:rPr lang="en-US" sz="2109" b="1" u="none" strike="noStrike">
                  <a:solidFill>
                    <a:srgbClr val="F0F4F8"/>
                  </a:solidFill>
                  <a:latin typeface="HK Grotesk Bold"/>
                  <a:ea typeface="HK Grotesk Bold"/>
                  <a:cs typeface="HK Grotesk Bold"/>
                  <a:sym typeface="HK Grotesk Bold"/>
                </a:rPr>
                <a:t>Billing System</a:t>
              </a:r>
              <a:r>
                <a:rPr lang="en-US" sz="2109" u="none" strike="noStrike">
                  <a:solidFill>
                    <a:srgbClr val="F0F4F8"/>
                  </a:solidFill>
                  <a:latin typeface="HK Grotesk"/>
                  <a:ea typeface="HK Grotesk"/>
                  <a:cs typeface="HK Grotesk"/>
                  <a:sym typeface="HK Grotesk"/>
                </a:rPr>
                <a:t> module streamlines invoice generation, calculates totals automatically, and supports multiple payment methods, ensuring accurate transaction processing and improving customer satisfaction through efficient service delivery.</a:t>
              </a:r>
            </a:p>
          </p:txBody>
        </p:sp>
      </p:grpSp>
      <p:grpSp>
        <p:nvGrpSpPr>
          <p:cNvPr id="11" name="Group 11"/>
          <p:cNvGrpSpPr/>
          <p:nvPr/>
        </p:nvGrpSpPr>
        <p:grpSpPr>
          <a:xfrm>
            <a:off x="666750" y="1562100"/>
            <a:ext cx="16954500" cy="2209800"/>
            <a:chOff x="0" y="0"/>
            <a:chExt cx="22606000" cy="2946400"/>
          </a:xfrm>
        </p:grpSpPr>
        <p:sp>
          <p:nvSpPr>
            <p:cNvPr id="12" name="TextBox 12"/>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Module Overview</a:t>
              </a:r>
            </a:p>
          </p:txBody>
        </p:sp>
        <p:sp>
          <p:nvSpPr>
            <p:cNvPr id="13" name="TextBox 13"/>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Key Functional Components of System</a:t>
              </a:r>
            </a:p>
          </p:txBody>
        </p:sp>
      </p:grpSp>
      <p:sp>
        <p:nvSpPr>
          <p:cNvPr id="14" name="AutoShape 14"/>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15" name="AutoShape 15"/>
          <p:cNvSpPr/>
          <p:nvPr/>
        </p:nvSpPr>
        <p:spPr>
          <a:xfrm>
            <a:off x="0" y="9629775"/>
            <a:ext cx="18288000" cy="0"/>
          </a:xfrm>
          <a:prstGeom prst="line">
            <a:avLst/>
          </a:prstGeom>
          <a:ln w="19050" cap="flat">
            <a:solidFill>
              <a:srgbClr val="F0F4F8"/>
            </a:solidFill>
            <a:prstDash val="solid"/>
            <a:headEnd type="none" w="sm" len="sm"/>
            <a:tailEnd type="none" w="sm" len="sm"/>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grpSp>
        <p:nvGrpSpPr>
          <p:cNvPr id="2" name="Group 2"/>
          <p:cNvGrpSpPr/>
          <p:nvPr/>
        </p:nvGrpSpPr>
        <p:grpSpPr>
          <a:xfrm>
            <a:off x="533400" y="4251220"/>
            <a:ext cx="7047047" cy="2348864"/>
            <a:chOff x="-177800" y="-2383507"/>
            <a:chExt cx="9396063" cy="3131819"/>
          </a:xfrm>
        </p:grpSpPr>
        <p:sp>
          <p:nvSpPr>
            <p:cNvPr id="3" name="TextBox 3"/>
            <p:cNvSpPr txBox="1"/>
            <p:nvPr/>
          </p:nvSpPr>
          <p:spPr>
            <a:xfrm>
              <a:off x="-177800" y="-2383507"/>
              <a:ext cx="9182100" cy="558800"/>
            </a:xfrm>
            <a:prstGeom prst="rect">
              <a:avLst/>
            </a:prstGeom>
          </p:spPr>
          <p:txBody>
            <a:bodyPr lIns="0" tIns="0" rIns="0" bIns="0" rtlCol="0" anchor="t">
              <a:spAutoFit/>
            </a:bodyPr>
            <a:lstStyle/>
            <a:p>
              <a:pPr marL="0" lvl="0" indent="0" algn="l">
                <a:lnSpc>
                  <a:spcPts val="3359"/>
                </a:lnSpc>
              </a:pPr>
              <a:r>
                <a:rPr lang="en-US" sz="2799" b="1" u="none" strike="noStrike" dirty="0">
                  <a:solidFill>
                    <a:srgbClr val="F0F4F8"/>
                  </a:solidFill>
                  <a:latin typeface="HK Grotesk Semi-Bold"/>
                  <a:ea typeface="HK Grotesk Semi-Bold"/>
                  <a:cs typeface="HK Grotesk Semi-Bold"/>
                  <a:sym typeface="HK Grotesk Semi-Bold"/>
                </a:rPr>
                <a:t>Secure Login</a:t>
              </a:r>
            </a:p>
          </p:txBody>
        </p:sp>
        <p:sp>
          <p:nvSpPr>
            <p:cNvPr id="4" name="TextBox 4"/>
            <p:cNvSpPr txBox="1"/>
            <p:nvPr/>
          </p:nvSpPr>
          <p:spPr>
            <a:xfrm>
              <a:off x="36163" y="-1664688"/>
              <a:ext cx="9182100" cy="2413000"/>
            </a:xfrm>
            <a:prstGeom prst="rect">
              <a:avLst/>
            </a:prstGeom>
          </p:spPr>
          <p:txBody>
            <a:bodyPr lIns="0" tIns="0" rIns="0" bIns="0" rtlCol="0" anchor="t">
              <a:spAutoFit/>
            </a:bodyPr>
            <a:lstStyle/>
            <a:p>
              <a:pPr marL="0" lvl="0" indent="0" algn="l">
                <a:lnSpc>
                  <a:spcPts val="2879"/>
                </a:lnSpc>
              </a:pPr>
              <a:r>
                <a:rPr lang="en-US" sz="2400" u="none" strike="noStrike" dirty="0">
                  <a:solidFill>
                    <a:srgbClr val="F0F4F8"/>
                  </a:solidFill>
                  <a:latin typeface="HK Grotesk"/>
                  <a:ea typeface="HK Grotesk"/>
                  <a:cs typeface="HK Grotesk"/>
                  <a:sym typeface="HK Grotesk"/>
                </a:rPr>
                <a:t>The system implements a robust secure login process, utilizing encryption techniques to protect user credentials and enabling multi-factor authentication for enhanced security and user verification.</a:t>
              </a:r>
            </a:p>
          </p:txBody>
        </p:sp>
      </p:grpSp>
      <p:grpSp>
        <p:nvGrpSpPr>
          <p:cNvPr id="5" name="Group 5"/>
          <p:cNvGrpSpPr/>
          <p:nvPr/>
        </p:nvGrpSpPr>
        <p:grpSpPr>
          <a:xfrm>
            <a:off x="9296400" y="6038850"/>
            <a:ext cx="6886575" cy="2705100"/>
            <a:chOff x="0" y="0"/>
            <a:chExt cx="9182100" cy="3606800"/>
          </a:xfrm>
        </p:grpSpPr>
        <p:sp>
          <p:nvSpPr>
            <p:cNvPr id="6" name="TextBox 6"/>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Role Management</a:t>
              </a:r>
            </a:p>
          </p:txBody>
        </p:sp>
        <p:sp>
          <p:nvSpPr>
            <p:cNvPr id="7" name="TextBox 7"/>
            <p:cNvSpPr txBox="1"/>
            <p:nvPr/>
          </p:nvSpPr>
          <p:spPr>
            <a:xfrm>
              <a:off x="0" y="1193800"/>
              <a:ext cx="91821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0F4F8"/>
                  </a:solidFill>
                  <a:latin typeface="HK Grotesk"/>
                  <a:ea typeface="HK Grotesk"/>
                  <a:cs typeface="HK Grotesk"/>
                  <a:sym typeface="HK Grotesk"/>
                </a:rPr>
                <a:t>Role management functionality allows for the assignment of specific access levels to users, ensuring that sensitive information remains protected while enabling authorized personnel to perform necessary tasks efficiently.</a:t>
              </a:r>
            </a:p>
          </p:txBody>
        </p:sp>
      </p:grpSp>
      <p:grpSp>
        <p:nvGrpSpPr>
          <p:cNvPr id="8" name="Group 8"/>
          <p:cNvGrpSpPr/>
          <p:nvPr/>
        </p:nvGrpSpPr>
        <p:grpSpPr>
          <a:xfrm>
            <a:off x="666750" y="1562100"/>
            <a:ext cx="16954500" cy="2209800"/>
            <a:chOff x="0" y="0"/>
            <a:chExt cx="22606000" cy="2946400"/>
          </a:xfrm>
        </p:grpSpPr>
        <p:sp>
          <p:nvSpPr>
            <p:cNvPr id="9" name="TextBox 9"/>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Authentication Workflow</a:t>
              </a:r>
            </a:p>
          </p:txBody>
        </p:sp>
        <p:sp>
          <p:nvSpPr>
            <p:cNvPr id="10" name="TextBox 10"/>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Secure Login and Role Management</a:t>
              </a:r>
            </a:p>
          </p:txBody>
        </p:sp>
      </p:grpSp>
      <p:sp>
        <p:nvSpPr>
          <p:cNvPr id="11" name="AutoShape 11"/>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12" name="AutoShape 12"/>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pic>
        <p:nvPicPr>
          <p:cNvPr id="14" name="Picture 13" descr="A screenshot of a computer screen&#10;&#10;AI-generated content may be incorrect.">
            <a:extLst>
              <a:ext uri="{FF2B5EF4-FFF2-40B4-BE49-F238E27FC236}">
                <a16:creationId xmlns:a16="http://schemas.microsoft.com/office/drawing/2014/main" id="{4D3167A4-CE69-29A6-E43D-F8B9BB77CA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8335" y="6457951"/>
            <a:ext cx="4711640" cy="28003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850"/>
        </a:solidFill>
        <a:effectLst/>
      </p:bgPr>
    </p:bg>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1615861" cy="1593725"/>
          </a:xfrm>
        </p:grpSpPr>
        <p:sp>
          <p:nvSpPr>
            <p:cNvPr id="3" name="Freeform 3"/>
            <p:cNvSpPr/>
            <p:nvPr/>
          </p:nvSpPr>
          <p:spPr>
            <a:xfrm>
              <a:off x="0" y="0"/>
              <a:ext cx="1615861" cy="1593725"/>
            </a:xfrm>
            <a:custGeom>
              <a:avLst/>
              <a:gdLst/>
              <a:ahLst/>
              <a:cxnLst/>
              <a:rect l="l" t="t" r="r" b="b"/>
              <a:pathLst>
                <a:path w="1615861" h="1593725">
                  <a:moveTo>
                    <a:pt x="0" y="0"/>
                  </a:moveTo>
                  <a:lnTo>
                    <a:pt x="1615861" y="0"/>
                  </a:lnTo>
                  <a:lnTo>
                    <a:pt x="1615861" y="1593725"/>
                  </a:lnTo>
                  <a:lnTo>
                    <a:pt x="0" y="1593725"/>
                  </a:lnTo>
                  <a:close/>
                </a:path>
              </a:pathLst>
            </a:custGeom>
            <a:blipFill>
              <a:blip r:embed="rId2"/>
              <a:stretch>
                <a:fillRect l="-193" r="-193"/>
              </a:stretch>
            </a:blipFill>
          </p:spPr>
          <p:txBody>
            <a:bodyPr/>
            <a:lstStyle/>
            <a:p>
              <a:endParaRPr lang="en-IN"/>
            </a:p>
          </p:txBody>
        </p:sp>
      </p:grpSp>
      <p:sp>
        <p:nvSpPr>
          <p:cNvPr id="4" name="AutoShape 4"/>
          <p:cNvSpPr/>
          <p:nvPr/>
        </p:nvSpPr>
        <p:spPr>
          <a:xfrm flipV="1">
            <a:off x="0" y="666749"/>
            <a:ext cx="7858125" cy="1"/>
          </a:xfrm>
          <a:prstGeom prst="line">
            <a:avLst/>
          </a:prstGeom>
          <a:ln w="19050" cap="flat">
            <a:solidFill>
              <a:srgbClr val="F0F4F8"/>
            </a:solidFill>
            <a:prstDash val="solid"/>
            <a:headEnd type="none" w="sm" len="sm"/>
            <a:tailEnd type="none" w="sm" len="sm"/>
          </a:ln>
        </p:spPr>
        <p:txBody>
          <a:bodyPr/>
          <a:lstStyle/>
          <a:p>
            <a:endParaRPr lang="en-IN"/>
          </a:p>
        </p:txBody>
      </p:sp>
      <p:sp>
        <p:nvSpPr>
          <p:cNvPr id="5" name="AutoShape 5"/>
          <p:cNvSpPr/>
          <p:nvPr/>
        </p:nvSpPr>
        <p:spPr>
          <a:xfrm flipV="1">
            <a:off x="0" y="9620249"/>
            <a:ext cx="7858125" cy="1"/>
          </a:xfrm>
          <a:prstGeom prst="line">
            <a:avLst/>
          </a:prstGeom>
          <a:ln w="19050" cap="flat">
            <a:solidFill>
              <a:srgbClr val="F0F4F8"/>
            </a:solidFill>
            <a:prstDash val="solid"/>
            <a:headEnd type="none" w="sm" len="sm"/>
            <a:tailEnd type="none" w="sm" len="sm"/>
          </a:ln>
        </p:spPr>
        <p:txBody>
          <a:bodyPr/>
          <a:lstStyle/>
          <a:p>
            <a:endParaRPr lang="en-IN"/>
          </a:p>
        </p:txBody>
      </p:sp>
      <p:sp>
        <p:nvSpPr>
          <p:cNvPr id="6" name="TextBox 6"/>
          <p:cNvSpPr txBox="1"/>
          <p:nvPr/>
        </p:nvSpPr>
        <p:spPr>
          <a:xfrm>
            <a:off x="666750" y="1743920"/>
            <a:ext cx="6886575" cy="250126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Billing Workflow</a:t>
            </a:r>
          </a:p>
        </p:txBody>
      </p:sp>
      <p:sp>
        <p:nvSpPr>
          <p:cNvPr id="7" name="TextBox 7"/>
          <p:cNvSpPr txBox="1"/>
          <p:nvPr/>
        </p:nvSpPr>
        <p:spPr>
          <a:xfrm>
            <a:off x="666750" y="5829300"/>
            <a:ext cx="5448300" cy="2895600"/>
          </a:xfrm>
          <a:prstGeom prst="rect">
            <a:avLst/>
          </a:prstGeom>
        </p:spPr>
        <p:txBody>
          <a:bodyPr lIns="0" tIns="0" rIns="0" bIns="0" rtlCol="0" anchor="t">
            <a:spAutoFit/>
          </a:bodyPr>
          <a:lstStyle/>
          <a:p>
            <a:pPr marL="0" lvl="0" indent="0" algn="l">
              <a:lnSpc>
                <a:spcPts val="2879"/>
              </a:lnSpc>
            </a:pPr>
            <a:r>
              <a:rPr lang="en-US" sz="2400" u="none" strike="noStrike">
                <a:solidFill>
                  <a:srgbClr val="F0F4F8"/>
                </a:solidFill>
                <a:latin typeface="HK Grotesk"/>
                <a:ea typeface="HK Grotesk"/>
                <a:cs typeface="HK Grotesk"/>
                <a:sym typeface="HK Grotesk"/>
              </a:rPr>
              <a:t>The billing workflow efficiently manages </a:t>
            </a:r>
            <a:r>
              <a:rPr lang="en-US" sz="2400" b="1" u="none" strike="noStrike">
                <a:solidFill>
                  <a:srgbClr val="F0F4F8"/>
                </a:solidFill>
                <a:latin typeface="HK Grotesk Bold"/>
                <a:ea typeface="HK Grotesk Bold"/>
                <a:cs typeface="HK Grotesk Bold"/>
                <a:sym typeface="HK Grotesk Bold"/>
              </a:rPr>
              <a:t>item entry</a:t>
            </a:r>
            <a:r>
              <a:rPr lang="en-US" sz="2400" u="none" strike="noStrike">
                <a:solidFill>
                  <a:srgbClr val="F0F4F8"/>
                </a:solidFill>
                <a:latin typeface="HK Grotesk"/>
                <a:ea typeface="HK Grotesk"/>
                <a:cs typeface="HK Grotesk"/>
                <a:sym typeface="HK Grotesk"/>
              </a:rPr>
              <a:t>, accurate price calculations, and seamless invoice generation. This automated process significantly reduces errors while enhancing user experience, enabling quick transactions and detailed billing reports for improved inventory management and customer satisfaction.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7496D"/>
        </a:solidFill>
        <a:effectLst/>
      </p:bgPr>
    </p:bg>
    <p:spTree>
      <p:nvGrpSpPr>
        <p:cNvPr id="1" name=""/>
        <p:cNvGrpSpPr/>
        <p:nvPr/>
      </p:nvGrpSpPr>
      <p:grpSpPr>
        <a:xfrm>
          <a:off x="0" y="0"/>
          <a:ext cx="0" cy="0"/>
          <a:chOff x="0" y="0"/>
          <a:chExt cx="0" cy="0"/>
        </a:xfrm>
      </p:grpSpPr>
      <p:grpSp>
        <p:nvGrpSpPr>
          <p:cNvPr id="2" name="Group 2"/>
          <p:cNvGrpSpPr/>
          <p:nvPr/>
        </p:nvGrpSpPr>
        <p:grpSpPr>
          <a:xfrm>
            <a:off x="655126" y="4142693"/>
            <a:ext cx="7069649" cy="1942359"/>
            <a:chOff x="-15499" y="-2528209"/>
            <a:chExt cx="9426199" cy="2589812"/>
          </a:xfrm>
        </p:grpSpPr>
        <p:sp>
          <p:nvSpPr>
            <p:cNvPr id="3" name="TextBox 3"/>
            <p:cNvSpPr txBox="1"/>
            <p:nvPr/>
          </p:nvSpPr>
          <p:spPr>
            <a:xfrm>
              <a:off x="-15499" y="-2528209"/>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Functional Testing</a:t>
              </a:r>
            </a:p>
          </p:txBody>
        </p:sp>
        <p:sp>
          <p:nvSpPr>
            <p:cNvPr id="4" name="TextBox 4"/>
            <p:cNvSpPr txBox="1"/>
            <p:nvPr/>
          </p:nvSpPr>
          <p:spPr>
            <a:xfrm>
              <a:off x="228600" y="-1868797"/>
              <a:ext cx="9182100" cy="1930400"/>
            </a:xfrm>
            <a:prstGeom prst="rect">
              <a:avLst/>
            </a:prstGeom>
          </p:spPr>
          <p:txBody>
            <a:bodyPr lIns="0" tIns="0" rIns="0" bIns="0" rtlCol="0" anchor="t">
              <a:spAutoFit/>
            </a:bodyPr>
            <a:lstStyle/>
            <a:p>
              <a:pPr marL="0" lvl="0" indent="0" algn="l">
                <a:lnSpc>
                  <a:spcPts val="2879"/>
                </a:lnSpc>
              </a:pPr>
              <a:r>
                <a:rPr lang="en-US" sz="2400" u="none" strike="noStrike" dirty="0">
                  <a:solidFill>
                    <a:srgbClr val="F0F4F8"/>
                  </a:solidFill>
                  <a:latin typeface="HK Grotesk"/>
                  <a:ea typeface="HK Grotesk"/>
                  <a:cs typeface="HK Grotesk"/>
                  <a:sym typeface="HK Grotesk"/>
                </a:rPr>
                <a:t>Functional testing was conducted to ensure that all features operated according to specifications, identifying any bugs or issues in the user interface and backend processes before deployment.</a:t>
              </a:r>
            </a:p>
          </p:txBody>
        </p:sp>
      </p:grpSp>
      <p:grpSp>
        <p:nvGrpSpPr>
          <p:cNvPr id="5" name="Group 5"/>
          <p:cNvGrpSpPr/>
          <p:nvPr/>
        </p:nvGrpSpPr>
        <p:grpSpPr>
          <a:xfrm>
            <a:off x="8915400" y="4099560"/>
            <a:ext cx="7572375" cy="2627045"/>
            <a:chOff x="-508000" y="-2585720"/>
            <a:chExt cx="10096500" cy="3502727"/>
          </a:xfrm>
        </p:grpSpPr>
        <p:sp>
          <p:nvSpPr>
            <p:cNvPr id="6" name="TextBox 6"/>
            <p:cNvSpPr txBox="1"/>
            <p:nvPr/>
          </p:nvSpPr>
          <p:spPr>
            <a:xfrm>
              <a:off x="-508000" y="-2585720"/>
              <a:ext cx="9182100" cy="558800"/>
            </a:xfrm>
            <a:prstGeom prst="rect">
              <a:avLst/>
            </a:prstGeom>
          </p:spPr>
          <p:txBody>
            <a:bodyPr lIns="0" tIns="0" rIns="0" bIns="0" rtlCol="0" anchor="t">
              <a:spAutoFit/>
            </a:bodyPr>
            <a:lstStyle/>
            <a:p>
              <a:pPr marL="0" lvl="0" indent="0" algn="l">
                <a:lnSpc>
                  <a:spcPts val="3359"/>
                </a:lnSpc>
              </a:pPr>
              <a:r>
                <a:rPr lang="en-US" sz="2799" b="1" u="none" strike="noStrike" dirty="0">
                  <a:solidFill>
                    <a:srgbClr val="F0F4F8"/>
                  </a:solidFill>
                  <a:latin typeface="HK Grotesk Semi-Bold"/>
                  <a:ea typeface="HK Grotesk Semi-Bold"/>
                  <a:cs typeface="HK Grotesk Semi-Bold"/>
                  <a:sym typeface="HK Grotesk Semi-Bold"/>
                </a:rPr>
                <a:t>Performance Testing</a:t>
              </a:r>
            </a:p>
          </p:txBody>
        </p:sp>
        <p:sp>
          <p:nvSpPr>
            <p:cNvPr id="7" name="TextBox 7"/>
            <p:cNvSpPr txBox="1"/>
            <p:nvPr/>
          </p:nvSpPr>
          <p:spPr>
            <a:xfrm>
              <a:off x="406400" y="-1495993"/>
              <a:ext cx="9182100" cy="2413000"/>
            </a:xfrm>
            <a:prstGeom prst="rect">
              <a:avLst/>
            </a:prstGeom>
          </p:spPr>
          <p:txBody>
            <a:bodyPr lIns="0" tIns="0" rIns="0" bIns="0" rtlCol="0" anchor="t">
              <a:spAutoFit/>
            </a:bodyPr>
            <a:lstStyle/>
            <a:p>
              <a:pPr marL="0" lvl="0" indent="0" algn="l">
                <a:lnSpc>
                  <a:spcPts val="2879"/>
                </a:lnSpc>
              </a:pPr>
              <a:r>
                <a:rPr lang="en-US" sz="2400" u="none" strike="noStrike" dirty="0">
                  <a:solidFill>
                    <a:srgbClr val="F0F4F8"/>
                  </a:solidFill>
                  <a:latin typeface="HK Grotesk"/>
                  <a:ea typeface="HK Grotesk"/>
                  <a:cs typeface="HK Grotesk"/>
                  <a:sym typeface="HK Grotesk"/>
                </a:rPr>
                <a:t>Performance testing verified the system's speed and responsiveness under various load conditions, ensuring it could handle multiple transactions simultaneously without degradation in performance or user experience.</a:t>
              </a:r>
            </a:p>
          </p:txBody>
        </p:sp>
      </p:grpSp>
      <p:grpSp>
        <p:nvGrpSpPr>
          <p:cNvPr id="8" name="Group 8"/>
          <p:cNvGrpSpPr/>
          <p:nvPr/>
        </p:nvGrpSpPr>
        <p:grpSpPr>
          <a:xfrm>
            <a:off x="666750" y="1562100"/>
            <a:ext cx="16954500" cy="2209800"/>
            <a:chOff x="0" y="0"/>
            <a:chExt cx="22606000" cy="2946400"/>
          </a:xfrm>
        </p:grpSpPr>
        <p:sp>
          <p:nvSpPr>
            <p:cNvPr id="9" name="TextBox 9"/>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Testing Phase</a:t>
              </a:r>
            </a:p>
          </p:txBody>
        </p:sp>
        <p:sp>
          <p:nvSpPr>
            <p:cNvPr id="10" name="TextBox 10"/>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Overview of test cases and outcomes</a:t>
              </a:r>
            </a:p>
          </p:txBody>
        </p:sp>
      </p:grpSp>
      <p:sp>
        <p:nvSpPr>
          <p:cNvPr id="11" name="AutoShape 11"/>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12" name="AutoShape 12"/>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pic>
        <p:nvPicPr>
          <p:cNvPr id="14" name="Picture 13" descr="A screenshot of a computer&#10;&#10;AI-generated content may be incorrect.">
            <a:extLst>
              <a:ext uri="{FF2B5EF4-FFF2-40B4-BE49-F238E27FC236}">
                <a16:creationId xmlns:a16="http://schemas.microsoft.com/office/drawing/2014/main" id="{9ECBC4D0-E634-E38F-4ADD-B8CFEFA40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688" y="6160511"/>
            <a:ext cx="6267450" cy="30615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6" name="TextBox 6"/>
          <p:cNvSpPr txBox="1"/>
          <p:nvPr/>
        </p:nvSpPr>
        <p:spPr>
          <a:xfrm>
            <a:off x="666750" y="1734395"/>
            <a:ext cx="6481328" cy="2364105"/>
          </a:xfrm>
          <a:prstGeom prst="rect">
            <a:avLst/>
          </a:prstGeom>
        </p:spPr>
        <p:txBody>
          <a:bodyPr lIns="0" tIns="0" rIns="0" bIns="0" rtlCol="0" anchor="t">
            <a:spAutoFit/>
          </a:bodyPr>
          <a:lstStyle/>
          <a:p>
            <a:pPr marL="0" lvl="0" indent="0" algn="l">
              <a:lnSpc>
                <a:spcPts val="9075"/>
              </a:lnSpc>
            </a:pPr>
            <a:r>
              <a:rPr lang="en-US" sz="9075" spc="-181">
                <a:solidFill>
                  <a:srgbClr val="F0F4F8"/>
                </a:solidFill>
                <a:latin typeface="Noto Serif Display ExtraCondensed Light"/>
                <a:ea typeface="Noto Serif Display ExtraCondensed Light"/>
                <a:cs typeface="Noto Serif Display ExtraCondensed Light"/>
                <a:sym typeface="Noto Serif Display ExtraCondensed Light"/>
              </a:rPr>
              <a:t>Implementation Snapshots</a:t>
            </a:r>
          </a:p>
        </p:txBody>
      </p:sp>
      <p:sp>
        <p:nvSpPr>
          <p:cNvPr id="7" name="AutoShape 7"/>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8" name="AutoShape 8"/>
          <p:cNvSpPr/>
          <p:nvPr/>
        </p:nvSpPr>
        <p:spPr>
          <a:xfrm>
            <a:off x="0" y="9629775"/>
            <a:ext cx="18288000" cy="0"/>
          </a:xfrm>
          <a:prstGeom prst="line">
            <a:avLst/>
          </a:prstGeom>
          <a:ln w="19050" cap="flat">
            <a:solidFill>
              <a:srgbClr val="F0F4F8"/>
            </a:solidFill>
            <a:prstDash val="solid"/>
            <a:headEnd type="none" w="sm" len="sm"/>
            <a:tailEnd type="none" w="sm" len="sm"/>
          </a:ln>
        </p:spPr>
        <p:txBody>
          <a:bodyPr/>
          <a:lstStyle/>
          <a:p>
            <a:endParaRPr lang="en-IN"/>
          </a:p>
        </p:txBody>
      </p:sp>
      <p:grpSp>
        <p:nvGrpSpPr>
          <p:cNvPr id="9" name="Group 9"/>
          <p:cNvGrpSpPr/>
          <p:nvPr/>
        </p:nvGrpSpPr>
        <p:grpSpPr>
          <a:xfrm>
            <a:off x="3124200" y="4686300"/>
            <a:ext cx="5448300" cy="2343150"/>
            <a:chOff x="0" y="0"/>
            <a:chExt cx="7264400" cy="3124200"/>
          </a:xfrm>
        </p:grpSpPr>
        <p:sp>
          <p:nvSpPr>
            <p:cNvPr id="10" name="TextBox 10"/>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System Interface Overview</a:t>
              </a:r>
            </a:p>
          </p:txBody>
        </p:sp>
        <p:sp>
          <p:nvSpPr>
            <p:cNvPr id="11" name="TextBox 11"/>
            <p:cNvSpPr txBox="1"/>
            <p:nvPr/>
          </p:nvSpPr>
          <p:spPr>
            <a:xfrm>
              <a:off x="0" y="1193800"/>
              <a:ext cx="7264400" cy="1930400"/>
            </a:xfrm>
            <a:prstGeom prst="rect">
              <a:avLst/>
            </a:prstGeom>
          </p:spPr>
          <p:txBody>
            <a:bodyPr lIns="0" tIns="0" rIns="0" bIns="0" rtlCol="0" anchor="t">
              <a:spAutoFit/>
            </a:bodyPr>
            <a:lstStyle/>
            <a:p>
              <a:pPr marL="0" lvl="0" indent="0" algn="l">
                <a:lnSpc>
                  <a:spcPts val="2879"/>
                </a:lnSpc>
              </a:pPr>
              <a:r>
                <a:rPr lang="en-US" sz="2400" u="none" strike="noStrike">
                  <a:solidFill>
                    <a:srgbClr val="F0F4F8"/>
                  </a:solidFill>
                  <a:latin typeface="HK Grotesk"/>
                  <a:ea typeface="HK Grotesk"/>
                  <a:cs typeface="HK Grotesk"/>
                  <a:sym typeface="HK Grotesk"/>
                </a:rPr>
                <a:t>These snapshots showcase the </a:t>
              </a:r>
              <a:r>
                <a:rPr lang="en-US" sz="2400" b="1" u="none" strike="noStrike">
                  <a:solidFill>
                    <a:srgbClr val="F0F4F8"/>
                  </a:solidFill>
                  <a:latin typeface="HK Grotesk Bold"/>
                  <a:ea typeface="HK Grotesk Bold"/>
                  <a:cs typeface="HK Grotesk Bold"/>
                  <a:sym typeface="HK Grotesk Bold"/>
                </a:rPr>
                <a:t>intuitive design</a:t>
              </a:r>
              <a:r>
                <a:rPr lang="en-US" sz="2400" u="none" strike="noStrike">
                  <a:solidFill>
                    <a:srgbClr val="F0F4F8"/>
                  </a:solidFill>
                  <a:latin typeface="HK Grotesk"/>
                  <a:ea typeface="HK Grotesk"/>
                  <a:cs typeface="HK Grotesk"/>
                  <a:sym typeface="HK Grotesk"/>
                </a:rPr>
                <a:t> and functionality of the Smart Inventory &amp; Billing System, highlighting key interactions and user experience.</a:t>
              </a:r>
            </a:p>
          </p:txBody>
        </p:sp>
      </p:grpSp>
      <p:pic>
        <p:nvPicPr>
          <p:cNvPr id="13" name="Picture 12" descr="A screenshot of a computer program&#10;&#10;AI-generated content may be incorrect.">
            <a:extLst>
              <a:ext uri="{FF2B5EF4-FFF2-40B4-BE49-F238E27FC236}">
                <a16:creationId xmlns:a16="http://schemas.microsoft.com/office/drawing/2014/main" id="{C402DD49-20A3-4121-F203-6AAAA6FDEC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1510" y="1567470"/>
            <a:ext cx="5210259" cy="71520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2850"/>
        </a:solidFill>
        <a:effectLst/>
      </p:bgPr>
    </p:bg>
    <p:spTree>
      <p:nvGrpSpPr>
        <p:cNvPr id="1" name=""/>
        <p:cNvGrpSpPr/>
        <p:nvPr/>
      </p:nvGrpSpPr>
      <p:grpSpPr>
        <a:xfrm>
          <a:off x="0" y="0"/>
          <a:ext cx="0" cy="0"/>
          <a:chOff x="0" y="0"/>
          <a:chExt cx="0" cy="0"/>
        </a:xfrm>
      </p:grpSpPr>
      <p:grpSp>
        <p:nvGrpSpPr>
          <p:cNvPr id="2" name="Group 2"/>
          <p:cNvGrpSpPr/>
          <p:nvPr/>
        </p:nvGrpSpPr>
        <p:grpSpPr>
          <a:xfrm>
            <a:off x="7858125" y="2727960"/>
            <a:ext cx="8629650" cy="5031105"/>
            <a:chOff x="0" y="266700"/>
            <a:chExt cx="11506200" cy="6708140"/>
          </a:xfrm>
        </p:grpSpPr>
        <p:sp>
          <p:nvSpPr>
            <p:cNvPr id="3" name="TextBox 3"/>
            <p:cNvSpPr txBox="1"/>
            <p:nvPr/>
          </p:nvSpPr>
          <p:spPr>
            <a:xfrm>
              <a:off x="0" y="3850640"/>
              <a:ext cx="115062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Accuracy of Billing Processes</a:t>
              </a:r>
            </a:p>
          </p:txBody>
        </p:sp>
        <p:sp>
          <p:nvSpPr>
            <p:cNvPr id="4" name="TextBox 4"/>
            <p:cNvSpPr txBox="1"/>
            <p:nvPr/>
          </p:nvSpPr>
          <p:spPr>
            <a:xfrm>
              <a:off x="0" y="5044440"/>
              <a:ext cx="11506200" cy="1930400"/>
            </a:xfrm>
            <a:prstGeom prst="rect">
              <a:avLst/>
            </a:prstGeom>
          </p:spPr>
          <p:txBody>
            <a:bodyPr lIns="0" tIns="0" rIns="0" bIns="0" rtlCol="0" anchor="t">
              <a:spAutoFit/>
            </a:bodyPr>
            <a:lstStyle/>
            <a:p>
              <a:pPr marL="0" lvl="0" indent="0" algn="l">
                <a:lnSpc>
                  <a:spcPts val="2879"/>
                </a:lnSpc>
                <a:spcBef>
                  <a:spcPct val="0"/>
                </a:spcBef>
              </a:pPr>
              <a:r>
                <a:rPr lang="en-US" sz="2400" u="none" strike="noStrike">
                  <a:solidFill>
                    <a:srgbClr val="F0F4F8"/>
                  </a:solidFill>
                  <a:latin typeface="HK Grotesk"/>
                  <a:ea typeface="HK Grotesk"/>
                  <a:cs typeface="HK Grotesk"/>
                  <a:sym typeface="HK Grotesk"/>
                </a:rPr>
                <a:t>The Smart Inventory &amp; Billing System achieved an impressive </a:t>
              </a:r>
              <a:r>
                <a:rPr lang="en-US" sz="2400" b="1" u="none" strike="noStrike">
                  <a:solidFill>
                    <a:srgbClr val="F0F4F8"/>
                  </a:solidFill>
                  <a:latin typeface="HK Grotesk Bold"/>
                  <a:ea typeface="HK Grotesk Bold"/>
                  <a:cs typeface="HK Grotesk Bold"/>
                  <a:sym typeface="HK Grotesk Bold"/>
                </a:rPr>
                <a:t>90% accuracy rate</a:t>
              </a:r>
              <a:r>
                <a:rPr lang="en-US" sz="2400" u="none" strike="noStrike">
                  <a:solidFill>
                    <a:srgbClr val="F0F4F8"/>
                  </a:solidFill>
                  <a:latin typeface="HK Grotesk"/>
                  <a:ea typeface="HK Grotesk"/>
                  <a:cs typeface="HK Grotesk"/>
                  <a:sym typeface="HK Grotesk"/>
                </a:rPr>
                <a:t> in billing processes, significantly reducing human errors and enhancing operational efficiency in inventory management.</a:t>
              </a:r>
            </a:p>
          </p:txBody>
        </p:sp>
        <p:sp>
          <p:nvSpPr>
            <p:cNvPr id="5" name="TextBox 5"/>
            <p:cNvSpPr txBox="1"/>
            <p:nvPr/>
          </p:nvSpPr>
          <p:spPr>
            <a:xfrm>
              <a:off x="0" y="266700"/>
              <a:ext cx="11506200" cy="2481107"/>
            </a:xfrm>
            <a:prstGeom prst="rect">
              <a:avLst/>
            </a:prstGeom>
          </p:spPr>
          <p:txBody>
            <a:bodyPr lIns="0" tIns="0" rIns="0" bIns="0" rtlCol="0" anchor="t">
              <a:spAutoFit/>
            </a:bodyPr>
            <a:lstStyle/>
            <a:p>
              <a:pPr marL="0" lvl="0" indent="0" algn="l">
                <a:lnSpc>
                  <a:spcPts val="14400"/>
                </a:lnSpc>
                <a:spcBef>
                  <a:spcPct val="0"/>
                </a:spcBef>
              </a:pPr>
              <a:r>
                <a:rPr lang="en-AS" sz="14400" spc="-288" dirty="0">
                  <a:solidFill>
                    <a:srgbClr val="F0F4F8"/>
                  </a:solidFill>
                  <a:latin typeface="Noto Serif Display ExtraCondensed Light"/>
                  <a:ea typeface="Noto Serif Display ExtraCondensed Light"/>
                  <a:cs typeface="Noto Serif Display ExtraCondensed Light"/>
                  <a:sym typeface="Noto Serif Display ExtraCondensed Light"/>
                </a:rPr>
                <a:t>10</a:t>
              </a:r>
              <a:r>
                <a:rPr lang="en-US" sz="14400" u="none" strike="noStrike" spc="-288" dirty="0">
                  <a:solidFill>
                    <a:srgbClr val="F0F4F8"/>
                  </a:solidFill>
                  <a:latin typeface="Noto Serif Display ExtraCondensed Light"/>
                  <a:ea typeface="Noto Serif Display ExtraCondensed Light"/>
                  <a:cs typeface="Noto Serif Display ExtraCondensed Light"/>
                  <a:sym typeface="Noto Serif Display ExtraCondensed Light"/>
                </a:rPr>
                <a:t>0%</a:t>
              </a:r>
            </a:p>
          </p:txBody>
        </p:sp>
      </p:grpSp>
      <p:sp>
        <p:nvSpPr>
          <p:cNvPr id="6" name="AutoShape 6"/>
          <p:cNvSpPr/>
          <p:nvPr/>
        </p:nvSpPr>
        <p:spPr>
          <a:xfrm>
            <a:off x="0" y="666750"/>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7" name="AutoShape 7"/>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7496D"/>
        </a:solidFill>
        <a:effectLst/>
      </p:bgPr>
    </p:bg>
    <p:spTree>
      <p:nvGrpSpPr>
        <p:cNvPr id="1" name=""/>
        <p:cNvGrpSpPr/>
        <p:nvPr/>
      </p:nvGrpSpPr>
      <p:grpSpPr>
        <a:xfrm>
          <a:off x="0" y="0"/>
          <a:ext cx="0" cy="0"/>
          <a:chOff x="0" y="0"/>
          <a:chExt cx="0" cy="0"/>
        </a:xfrm>
      </p:grpSpPr>
      <p:grpSp>
        <p:nvGrpSpPr>
          <p:cNvPr id="2" name="Group 2"/>
          <p:cNvGrpSpPr/>
          <p:nvPr/>
        </p:nvGrpSpPr>
        <p:grpSpPr>
          <a:xfrm>
            <a:off x="666750" y="5619750"/>
            <a:ext cx="4010025" cy="3067050"/>
            <a:chOff x="0" y="0"/>
            <a:chExt cx="5346700" cy="4089400"/>
          </a:xfrm>
        </p:grpSpPr>
        <p:sp>
          <p:nvSpPr>
            <p:cNvPr id="3" name="TextBox 3"/>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Cloud Sync</a:t>
              </a:r>
            </a:p>
          </p:txBody>
        </p:sp>
        <p:sp>
          <p:nvSpPr>
            <p:cNvPr id="4" name="TextBox 4"/>
            <p:cNvSpPr txBox="1"/>
            <p:nvPr/>
          </p:nvSpPr>
          <p:spPr>
            <a:xfrm>
              <a:off x="0" y="1244600"/>
              <a:ext cx="5346700" cy="2844800"/>
            </a:xfrm>
            <a:prstGeom prst="rect">
              <a:avLst/>
            </a:prstGeom>
          </p:spPr>
          <p:txBody>
            <a:bodyPr lIns="0" tIns="0" rIns="0" bIns="0" rtlCol="0" anchor="t">
              <a:spAutoFit/>
            </a:bodyPr>
            <a:lstStyle/>
            <a:p>
              <a:pPr marL="0" lvl="0" indent="0" algn="l">
                <a:lnSpc>
                  <a:spcPts val="2471"/>
                </a:lnSpc>
                <a:spcBef>
                  <a:spcPct val="0"/>
                </a:spcBef>
              </a:pPr>
              <a:r>
                <a:rPr lang="en-US" sz="2059" u="none" strike="noStrike">
                  <a:solidFill>
                    <a:srgbClr val="F0F4F8"/>
                  </a:solidFill>
                  <a:latin typeface="HK Grotesk"/>
                  <a:ea typeface="HK Grotesk"/>
                  <a:cs typeface="HK Grotesk"/>
                  <a:sym typeface="HK Grotesk"/>
                </a:rPr>
                <a:t>Implementing </a:t>
              </a:r>
              <a:r>
                <a:rPr lang="en-US" sz="2059" b="1" u="none" strike="noStrike">
                  <a:solidFill>
                    <a:srgbClr val="F0F4F8"/>
                  </a:solidFill>
                  <a:latin typeface="HK Grotesk Bold"/>
                  <a:ea typeface="HK Grotesk Bold"/>
                  <a:cs typeface="HK Grotesk Bold"/>
                  <a:sym typeface="HK Grotesk Bold"/>
                </a:rPr>
                <a:t>cloud synchronization</a:t>
              </a:r>
              <a:r>
                <a:rPr lang="en-US" sz="2059" u="none" strike="noStrike">
                  <a:solidFill>
                    <a:srgbClr val="F0F4F8"/>
                  </a:solidFill>
                  <a:latin typeface="HK Grotesk"/>
                  <a:ea typeface="HK Grotesk"/>
                  <a:cs typeface="HK Grotesk"/>
                  <a:sym typeface="HK Grotesk"/>
                </a:rPr>
                <a:t> will enhance data accessibility and security, allowing users to access their inventory and billing information anytime, anywhere, while ensuring that data remains consistent across devices.</a:t>
              </a:r>
            </a:p>
          </p:txBody>
        </p:sp>
      </p:grpSp>
      <p:grpSp>
        <p:nvGrpSpPr>
          <p:cNvPr id="5" name="Group 5"/>
          <p:cNvGrpSpPr/>
          <p:nvPr/>
        </p:nvGrpSpPr>
        <p:grpSpPr>
          <a:xfrm>
            <a:off x="6419850" y="5619750"/>
            <a:ext cx="4010025" cy="3400425"/>
            <a:chOff x="0" y="0"/>
            <a:chExt cx="5346700" cy="4533900"/>
          </a:xfrm>
        </p:grpSpPr>
        <p:sp>
          <p:nvSpPr>
            <p:cNvPr id="6" name="TextBox 6"/>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Analytics</a:t>
              </a:r>
            </a:p>
          </p:txBody>
        </p:sp>
        <p:sp>
          <p:nvSpPr>
            <p:cNvPr id="7" name="TextBox 7"/>
            <p:cNvSpPr txBox="1"/>
            <p:nvPr/>
          </p:nvSpPr>
          <p:spPr>
            <a:xfrm>
              <a:off x="0" y="1282700"/>
              <a:ext cx="5346700" cy="3251200"/>
            </a:xfrm>
            <a:prstGeom prst="rect">
              <a:avLst/>
            </a:prstGeom>
          </p:spPr>
          <p:txBody>
            <a:bodyPr lIns="0" tIns="0" rIns="0" bIns="0" rtlCol="0" anchor="t">
              <a:spAutoFit/>
            </a:bodyPr>
            <a:lstStyle/>
            <a:p>
              <a:pPr marL="0" lvl="0" indent="0" algn="l">
                <a:lnSpc>
                  <a:spcPts val="2471"/>
                </a:lnSpc>
                <a:spcBef>
                  <a:spcPct val="0"/>
                </a:spcBef>
              </a:pPr>
              <a:r>
                <a:rPr lang="en-US" sz="2059" u="none" strike="noStrike">
                  <a:solidFill>
                    <a:srgbClr val="F0F4F8"/>
                  </a:solidFill>
                  <a:latin typeface="HK Grotesk"/>
                  <a:ea typeface="HK Grotesk"/>
                  <a:cs typeface="HK Grotesk"/>
                  <a:sym typeface="HK Grotesk"/>
                </a:rPr>
                <a:t>Introducing advanced </a:t>
              </a:r>
              <a:r>
                <a:rPr lang="en-US" sz="2059" b="1" u="none" strike="noStrike">
                  <a:solidFill>
                    <a:srgbClr val="F0F4F8"/>
                  </a:solidFill>
                  <a:latin typeface="HK Grotesk Bold"/>
                  <a:ea typeface="HK Grotesk Bold"/>
                  <a:cs typeface="HK Grotesk Bold"/>
                  <a:sym typeface="HK Grotesk Bold"/>
                </a:rPr>
                <a:t>analytics features</a:t>
              </a:r>
              <a:r>
                <a:rPr lang="en-US" sz="2059" u="none" strike="noStrike">
                  <a:solidFill>
                    <a:srgbClr val="F0F4F8"/>
                  </a:solidFill>
                  <a:latin typeface="HK Grotesk"/>
                  <a:ea typeface="HK Grotesk"/>
                  <a:cs typeface="HK Grotesk"/>
                  <a:sym typeface="HK Grotesk"/>
                </a:rPr>
                <a:t> will provide users with insightful reports on inventory trends and sales performance, empowering informed decision-making and optimizing resource management for greater efficiency and profitability.</a:t>
              </a:r>
            </a:p>
          </p:txBody>
        </p:sp>
      </p:grpSp>
      <p:grpSp>
        <p:nvGrpSpPr>
          <p:cNvPr id="8" name="Group 8"/>
          <p:cNvGrpSpPr/>
          <p:nvPr/>
        </p:nvGrpSpPr>
        <p:grpSpPr>
          <a:xfrm>
            <a:off x="12172950" y="5619750"/>
            <a:ext cx="4010025" cy="3067050"/>
            <a:chOff x="0" y="0"/>
            <a:chExt cx="5346700" cy="4089400"/>
          </a:xfrm>
        </p:grpSpPr>
        <p:sp>
          <p:nvSpPr>
            <p:cNvPr id="9" name="TextBox 9"/>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a:solidFill>
                    <a:srgbClr val="F0F4F8"/>
                  </a:solidFill>
                  <a:latin typeface="HK Grotesk Semi-Bold"/>
                  <a:ea typeface="HK Grotesk Semi-Bold"/>
                  <a:cs typeface="HK Grotesk Semi-Bold"/>
                  <a:sym typeface="HK Grotesk Semi-Bold"/>
                </a:rPr>
                <a:t>Mobile App</a:t>
              </a:r>
            </a:p>
          </p:txBody>
        </p:sp>
        <p:sp>
          <p:nvSpPr>
            <p:cNvPr id="10" name="TextBox 10"/>
            <p:cNvSpPr txBox="1"/>
            <p:nvPr/>
          </p:nvSpPr>
          <p:spPr>
            <a:xfrm>
              <a:off x="0" y="1244600"/>
              <a:ext cx="5346700" cy="2844800"/>
            </a:xfrm>
            <a:prstGeom prst="rect">
              <a:avLst/>
            </a:prstGeom>
          </p:spPr>
          <p:txBody>
            <a:bodyPr lIns="0" tIns="0" rIns="0" bIns="0" rtlCol="0" anchor="t">
              <a:spAutoFit/>
            </a:bodyPr>
            <a:lstStyle/>
            <a:p>
              <a:pPr marL="0" lvl="0" indent="0" algn="l">
                <a:lnSpc>
                  <a:spcPts val="2471"/>
                </a:lnSpc>
                <a:spcBef>
                  <a:spcPct val="0"/>
                </a:spcBef>
              </a:pPr>
              <a:r>
                <a:rPr lang="en-US" sz="2059" u="none" strike="noStrike">
                  <a:solidFill>
                    <a:srgbClr val="F0F4F8"/>
                  </a:solidFill>
                  <a:latin typeface="HK Grotesk"/>
                  <a:ea typeface="HK Grotesk"/>
                  <a:cs typeface="HK Grotesk"/>
                  <a:sym typeface="HK Grotesk"/>
                </a:rPr>
                <a:t>Developing a </a:t>
              </a:r>
              <a:r>
                <a:rPr lang="en-US" sz="2059" b="1" u="none" strike="noStrike">
                  <a:solidFill>
                    <a:srgbClr val="F0F4F8"/>
                  </a:solidFill>
                  <a:latin typeface="HK Grotesk Bold"/>
                  <a:ea typeface="HK Grotesk Bold"/>
                  <a:cs typeface="HK Grotesk Bold"/>
                  <a:sym typeface="HK Grotesk Bold"/>
                </a:rPr>
                <a:t>mobile application</a:t>
              </a:r>
              <a:r>
                <a:rPr lang="en-US" sz="2059" u="none" strike="noStrike">
                  <a:solidFill>
                    <a:srgbClr val="F0F4F8"/>
                  </a:solidFill>
                  <a:latin typeface="HK Grotesk"/>
                  <a:ea typeface="HK Grotesk"/>
                  <a:cs typeface="HK Grotesk"/>
                  <a:sym typeface="HK Grotesk"/>
                </a:rPr>
                <a:t> will enable users to manage their inventory and billing on the go, increasing user engagement and providing a seamless experience that accommodates modern business needs.</a:t>
              </a:r>
            </a:p>
          </p:txBody>
        </p:sp>
      </p:grpSp>
      <p:grpSp>
        <p:nvGrpSpPr>
          <p:cNvPr id="11" name="Group 11"/>
          <p:cNvGrpSpPr/>
          <p:nvPr/>
        </p:nvGrpSpPr>
        <p:grpSpPr>
          <a:xfrm>
            <a:off x="666750" y="1562100"/>
            <a:ext cx="16954500" cy="2209800"/>
            <a:chOff x="0" y="0"/>
            <a:chExt cx="22606000" cy="2946400"/>
          </a:xfrm>
        </p:grpSpPr>
        <p:sp>
          <p:nvSpPr>
            <p:cNvPr id="12" name="TextBox 12"/>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Future Enhancements</a:t>
              </a:r>
            </a:p>
          </p:txBody>
        </p:sp>
        <p:sp>
          <p:nvSpPr>
            <p:cNvPr id="13" name="TextBox 13"/>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Expanding the system's capabilities</a:t>
              </a:r>
            </a:p>
          </p:txBody>
        </p:sp>
      </p:grpSp>
      <p:sp>
        <p:nvSpPr>
          <p:cNvPr id="14" name="AutoShape 14"/>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15" name="AutoShape 15"/>
          <p:cNvSpPr/>
          <p:nvPr/>
        </p:nvSpPr>
        <p:spPr>
          <a:xfrm>
            <a:off x="0" y="9629775"/>
            <a:ext cx="18288000" cy="0"/>
          </a:xfrm>
          <a:prstGeom prst="line">
            <a:avLst/>
          </a:prstGeom>
          <a:ln w="19050" cap="flat">
            <a:solidFill>
              <a:srgbClr val="F0F4F8"/>
            </a:solidFill>
            <a:prstDash val="solid"/>
            <a:headEnd type="none" w="sm" len="sm"/>
            <a:tailEnd type="none" w="sm" len="sm"/>
          </a:ln>
        </p:spPr>
        <p:txBody>
          <a:bodyPr/>
          <a:lstStyle/>
          <a:p>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grpSp>
        <p:nvGrpSpPr>
          <p:cNvPr id="2" name="Group 2"/>
          <p:cNvGrpSpPr/>
          <p:nvPr/>
        </p:nvGrpSpPr>
        <p:grpSpPr>
          <a:xfrm>
            <a:off x="666750" y="1562100"/>
            <a:ext cx="6886575" cy="2362200"/>
            <a:chOff x="0" y="0"/>
            <a:chExt cx="9182100" cy="3149600"/>
          </a:xfrm>
        </p:grpSpPr>
        <p:sp>
          <p:nvSpPr>
            <p:cNvPr id="3" name="TextBox 3"/>
            <p:cNvSpPr txBox="1"/>
            <p:nvPr/>
          </p:nvSpPr>
          <p:spPr>
            <a:xfrm>
              <a:off x="0" y="180975"/>
              <a:ext cx="9182100" cy="17697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Conclusion</a:t>
              </a:r>
            </a:p>
          </p:txBody>
        </p:sp>
        <p:sp>
          <p:nvSpPr>
            <p:cNvPr id="4" name="TextBox 4"/>
            <p:cNvSpPr txBox="1"/>
            <p:nvPr/>
          </p:nvSpPr>
          <p:spPr>
            <a:xfrm>
              <a:off x="0" y="259080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Reflecting on Project Achievements</a:t>
              </a:r>
            </a:p>
          </p:txBody>
        </p:sp>
      </p:grpSp>
      <p:sp>
        <p:nvSpPr>
          <p:cNvPr id="5" name="AutoShape 5"/>
          <p:cNvSpPr/>
          <p:nvPr/>
        </p:nvSpPr>
        <p:spPr>
          <a:xfrm>
            <a:off x="0" y="676275"/>
            <a:ext cx="18288000" cy="0"/>
          </a:xfrm>
          <a:prstGeom prst="line">
            <a:avLst/>
          </a:prstGeom>
          <a:ln w="19050" cap="flat">
            <a:solidFill>
              <a:srgbClr val="F0F4F8"/>
            </a:solidFill>
            <a:prstDash val="solid"/>
            <a:headEnd type="none" w="sm" len="sm"/>
            <a:tailEnd type="none" w="sm" len="sm"/>
          </a:ln>
        </p:spPr>
        <p:txBody>
          <a:bodyPr/>
          <a:lstStyle/>
          <a:p>
            <a:endParaRPr lang="en-IN"/>
          </a:p>
        </p:txBody>
      </p:sp>
      <p:sp>
        <p:nvSpPr>
          <p:cNvPr id="6" name="AutoShape 6"/>
          <p:cNvSpPr/>
          <p:nvPr/>
        </p:nvSpPr>
        <p:spPr>
          <a:xfrm>
            <a:off x="0" y="9620250"/>
            <a:ext cx="18288000" cy="0"/>
          </a:xfrm>
          <a:prstGeom prst="line">
            <a:avLst/>
          </a:prstGeom>
          <a:ln w="19050" cap="flat">
            <a:solidFill>
              <a:srgbClr val="F0F4F8"/>
            </a:solidFill>
            <a:prstDash val="solid"/>
            <a:headEnd type="none" w="sm" len="sm"/>
            <a:tailEnd type="none" w="sm" len="sm"/>
          </a:ln>
        </p:spPr>
        <p:txBody>
          <a:bodyPr/>
          <a:lstStyle/>
          <a:p>
            <a:endParaRPr lang="en-IN"/>
          </a:p>
        </p:txBody>
      </p:sp>
      <p:grpSp>
        <p:nvGrpSpPr>
          <p:cNvPr id="7" name="Group 7"/>
          <p:cNvGrpSpPr/>
          <p:nvPr/>
        </p:nvGrpSpPr>
        <p:grpSpPr>
          <a:xfrm>
            <a:off x="9296400" y="5676900"/>
            <a:ext cx="6886575" cy="2705100"/>
            <a:chOff x="0" y="0"/>
            <a:chExt cx="9182100" cy="3606800"/>
          </a:xfrm>
        </p:grpSpPr>
        <p:sp>
          <p:nvSpPr>
            <p:cNvPr id="8" name="TextBox 8"/>
            <p:cNvSpPr txBox="1"/>
            <p:nvPr/>
          </p:nvSpPr>
          <p:spPr>
            <a:xfrm>
              <a:off x="0" y="0"/>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0F4F8"/>
                  </a:solidFill>
                  <a:latin typeface="HK Grotesk Semi-Bold"/>
                  <a:ea typeface="HK Grotesk Semi-Bold"/>
                  <a:cs typeface="HK Grotesk Semi-Bold"/>
                  <a:sym typeface="HK Grotesk Semi-Bold"/>
                </a:rPr>
                <a:t>Project Learning</a:t>
              </a:r>
            </a:p>
          </p:txBody>
        </p:sp>
        <p:sp>
          <p:nvSpPr>
            <p:cNvPr id="9" name="TextBox 9"/>
            <p:cNvSpPr txBox="1"/>
            <p:nvPr/>
          </p:nvSpPr>
          <p:spPr>
            <a:xfrm>
              <a:off x="0" y="1193800"/>
              <a:ext cx="91821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0F4F8"/>
                  </a:solidFill>
                  <a:latin typeface="HK Grotesk"/>
                  <a:ea typeface="HK Grotesk"/>
                  <a:cs typeface="HK Grotesk"/>
                  <a:sym typeface="HK Grotesk"/>
                </a:rPr>
                <a:t>This project demonstrated the importance of </a:t>
              </a:r>
              <a:r>
                <a:rPr lang="en-US" sz="2400" b="1" u="none" strike="noStrike">
                  <a:solidFill>
                    <a:srgbClr val="F0F4F8"/>
                  </a:solidFill>
                  <a:latin typeface="HK Grotesk Bold"/>
                  <a:ea typeface="HK Grotesk Bold"/>
                  <a:cs typeface="HK Grotesk Bold"/>
                  <a:sym typeface="HK Grotesk Bold"/>
                </a:rPr>
                <a:t>effective planning, collaboration,</a:t>
              </a:r>
              <a:r>
                <a:rPr lang="en-US" sz="2400" u="none" strike="noStrike">
                  <a:solidFill>
                    <a:srgbClr val="F0F4F8"/>
                  </a:solidFill>
                  <a:latin typeface="HK Grotesk"/>
                  <a:ea typeface="HK Grotesk"/>
                  <a:cs typeface="HK Grotesk"/>
                  <a:sym typeface="HK Grotesk"/>
                </a:rPr>
                <a:t> and adaptability. The success of the Smart Inventory System showcases how technology can enhance operational efficiency in inventory management.</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2850"/>
        </a:solidFill>
        <a:effectLst/>
      </p:bgPr>
    </p:bg>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1615861" cy="1593725"/>
          </a:xfrm>
        </p:grpSpPr>
        <p:sp>
          <p:nvSpPr>
            <p:cNvPr id="3" name="Freeform 3"/>
            <p:cNvSpPr/>
            <p:nvPr/>
          </p:nvSpPr>
          <p:spPr>
            <a:xfrm>
              <a:off x="0" y="0"/>
              <a:ext cx="1615861" cy="1593725"/>
            </a:xfrm>
            <a:custGeom>
              <a:avLst/>
              <a:gdLst/>
              <a:ahLst/>
              <a:cxnLst/>
              <a:rect l="l" t="t" r="r" b="b"/>
              <a:pathLst>
                <a:path w="1615861" h="1593725">
                  <a:moveTo>
                    <a:pt x="0" y="0"/>
                  </a:moveTo>
                  <a:lnTo>
                    <a:pt x="1615861" y="0"/>
                  </a:lnTo>
                  <a:lnTo>
                    <a:pt x="1615861" y="1593725"/>
                  </a:lnTo>
                  <a:lnTo>
                    <a:pt x="0" y="1593725"/>
                  </a:lnTo>
                  <a:close/>
                </a:path>
              </a:pathLst>
            </a:custGeom>
            <a:blipFill>
              <a:blip r:embed="rId2"/>
              <a:stretch>
                <a:fillRect l="-193" r="-193"/>
              </a:stretch>
            </a:blipFill>
          </p:spPr>
          <p:txBody>
            <a:bodyPr/>
            <a:lstStyle/>
            <a:p>
              <a:endParaRPr lang="en-IN"/>
            </a:p>
          </p:txBody>
        </p:sp>
      </p:grpSp>
      <p:grpSp>
        <p:nvGrpSpPr>
          <p:cNvPr id="4" name="Group 4"/>
          <p:cNvGrpSpPr/>
          <p:nvPr/>
        </p:nvGrpSpPr>
        <p:grpSpPr>
          <a:xfrm>
            <a:off x="762444" y="1698676"/>
            <a:ext cx="6438456" cy="2054662"/>
            <a:chOff x="0" y="180975"/>
            <a:chExt cx="8584608" cy="2739548"/>
          </a:xfrm>
        </p:grpSpPr>
        <p:sp>
          <p:nvSpPr>
            <p:cNvPr id="5" name="TextBox 5"/>
            <p:cNvSpPr txBox="1"/>
            <p:nvPr/>
          </p:nvSpPr>
          <p:spPr>
            <a:xfrm>
              <a:off x="0" y="180975"/>
              <a:ext cx="7264400" cy="1769745"/>
            </a:xfrm>
            <a:prstGeom prst="rect">
              <a:avLst/>
            </a:prstGeom>
          </p:spPr>
          <p:txBody>
            <a:bodyPr lIns="0" tIns="0" rIns="0" bIns="0" rtlCol="0" anchor="t">
              <a:spAutoFit/>
            </a:bodyPr>
            <a:lstStyle/>
            <a:p>
              <a:pPr marL="0" lvl="0" indent="0" algn="l">
                <a:lnSpc>
                  <a:spcPts val="9600"/>
                </a:lnSpc>
              </a:pPr>
              <a:r>
                <a:rPr lang="en-US" sz="9600" spc="-192">
                  <a:solidFill>
                    <a:srgbClr val="F0F4F8"/>
                  </a:solidFill>
                  <a:latin typeface="Noto Serif Display ExtraCondensed Light"/>
                  <a:ea typeface="Noto Serif Display ExtraCondensed Light"/>
                  <a:cs typeface="Noto Serif Display ExtraCondensed Light"/>
                  <a:sym typeface="Noto Serif Display ExtraCondensed Light"/>
                </a:rPr>
                <a:t>Thank You</a:t>
              </a:r>
            </a:p>
          </p:txBody>
        </p:sp>
        <p:sp>
          <p:nvSpPr>
            <p:cNvPr id="6" name="TextBox 6"/>
            <p:cNvSpPr txBox="1"/>
            <p:nvPr/>
          </p:nvSpPr>
          <p:spPr>
            <a:xfrm>
              <a:off x="1320208" y="2374353"/>
              <a:ext cx="7264400" cy="546170"/>
            </a:xfrm>
            <a:prstGeom prst="rect">
              <a:avLst/>
            </a:prstGeom>
          </p:spPr>
          <p:txBody>
            <a:bodyPr lIns="0" tIns="0" rIns="0" bIns="0" rtlCol="0" anchor="t">
              <a:spAutoFit/>
            </a:bodyPr>
            <a:lstStyle/>
            <a:p>
              <a:pPr marL="0" lvl="0" indent="0" algn="l">
                <a:lnSpc>
                  <a:spcPts val="3239"/>
                </a:lnSpc>
              </a:pPr>
              <a:r>
                <a:rPr lang="en-US" sz="2699" dirty="0">
                  <a:solidFill>
                    <a:srgbClr val="F0F4F8"/>
                  </a:solidFill>
                  <a:latin typeface="HK Grotesk"/>
                  <a:ea typeface="HK Grotesk"/>
                  <a:cs typeface="HK Grotesk"/>
                  <a:sym typeface="HK Grotesk"/>
                </a:rPr>
                <a:t>Marzooq C</a:t>
              </a:r>
            </a:p>
          </p:txBody>
        </p:sp>
      </p:grpSp>
      <p:sp>
        <p:nvSpPr>
          <p:cNvPr id="7" name="AutoShape 7"/>
          <p:cNvSpPr/>
          <p:nvPr/>
        </p:nvSpPr>
        <p:spPr>
          <a:xfrm>
            <a:off x="0" y="676275"/>
            <a:ext cx="7858125" cy="0"/>
          </a:xfrm>
          <a:prstGeom prst="line">
            <a:avLst/>
          </a:prstGeom>
          <a:ln w="19050" cap="flat">
            <a:solidFill>
              <a:srgbClr val="F0F4F8"/>
            </a:solidFill>
            <a:prstDash val="solid"/>
            <a:headEnd type="none" w="sm" len="sm"/>
            <a:tailEnd type="none" w="sm" len="sm"/>
          </a:ln>
        </p:spPr>
        <p:txBody>
          <a:bodyPr/>
          <a:lstStyle/>
          <a:p>
            <a:endParaRPr lang="en-IN"/>
          </a:p>
        </p:txBody>
      </p:sp>
      <p:sp>
        <p:nvSpPr>
          <p:cNvPr id="8" name="AutoShape 8"/>
          <p:cNvSpPr/>
          <p:nvPr/>
        </p:nvSpPr>
        <p:spPr>
          <a:xfrm>
            <a:off x="0" y="9629775"/>
            <a:ext cx="7858125" cy="0"/>
          </a:xfrm>
          <a:prstGeom prst="line">
            <a:avLst/>
          </a:prstGeom>
          <a:ln w="19050" cap="flat">
            <a:solidFill>
              <a:srgbClr val="F0F4F8"/>
            </a:solidFill>
            <a:prstDash val="solid"/>
            <a:headEnd type="none" w="sm" len="sm"/>
            <a:tailEnd type="none" w="sm" len="sm"/>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1160</TotalTime>
  <Words>966</Words>
  <Application>Microsoft Office PowerPoint</Application>
  <PresentationFormat>Custom</PresentationFormat>
  <Paragraphs>84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Calibri</vt:lpstr>
      <vt:lpstr>Arial</vt:lpstr>
      <vt:lpstr>Noto Serif Display ExtraCondensed Light</vt:lpstr>
      <vt:lpstr>HK Grotesk</vt:lpstr>
      <vt:lpstr>HK Grotesk Bold</vt:lpstr>
      <vt:lpstr>HK Grotesk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Smart Billing</dc:title>
  <dc:creator>Zainab mustafa</dc:creator>
  <dc:description>Presentation - Smart Billing</dc:description>
  <cp:lastModifiedBy>C.Marzooq c.marzooq</cp:lastModifiedBy>
  <cp:revision>6</cp:revision>
  <dcterms:created xsi:type="dcterms:W3CDTF">2006-08-16T00:00:00Z</dcterms:created>
  <dcterms:modified xsi:type="dcterms:W3CDTF">2025-11-09T12:38:30Z</dcterms:modified>
  <dc:identifier>DAG4IYGzsGo</dc:identifier>
</cp:coreProperties>
</file>