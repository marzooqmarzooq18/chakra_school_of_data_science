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e Vietnam" charset="1" panose="00000500000000000000"/>
      <p:regular r:id="rId13"/>
    </p:embeddedFont>
    <p:embeddedFont>
      <p:font typeface="Roca Two Bold" charset="1" panose="00000800000000000000"/>
      <p:regular r:id="rId14"/>
    </p:embeddedFont>
    <p:embeddedFont>
      <p:font typeface="Roca Two" charset="1" panose="00000500000000000000"/>
      <p:regular r:id="rId15"/>
    </p:embeddedFont>
    <p:embeddedFont>
      <p:font typeface="Be Vietnam Ultra-Bold" charset="1" panose="000009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666750"/>
            <a:ext cx="7191375" cy="8953500"/>
            <a:chOff x="0" y="0"/>
            <a:chExt cx="1274296" cy="15865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4296" cy="1586541"/>
            </a:xfrm>
            <a:custGeom>
              <a:avLst/>
              <a:gdLst/>
              <a:ahLst/>
              <a:cxnLst/>
              <a:rect r="r" b="b" t="t" l="l"/>
              <a:pathLst>
                <a:path h="1586541" w="1274296">
                  <a:moveTo>
                    <a:pt x="29067" y="0"/>
                  </a:moveTo>
                  <a:lnTo>
                    <a:pt x="1245229" y="0"/>
                  </a:lnTo>
                  <a:cubicBezTo>
                    <a:pt x="1261283" y="0"/>
                    <a:pt x="1274296" y="13014"/>
                    <a:pt x="1274296" y="29067"/>
                  </a:cubicBezTo>
                  <a:lnTo>
                    <a:pt x="1274296" y="1557474"/>
                  </a:lnTo>
                  <a:cubicBezTo>
                    <a:pt x="1274296" y="1565183"/>
                    <a:pt x="1271234" y="1572576"/>
                    <a:pt x="1265783" y="1578028"/>
                  </a:cubicBezTo>
                  <a:cubicBezTo>
                    <a:pt x="1260332" y="1583479"/>
                    <a:pt x="1252938" y="1586541"/>
                    <a:pt x="1245229" y="1586541"/>
                  </a:cubicBezTo>
                  <a:lnTo>
                    <a:pt x="29067" y="1586541"/>
                  </a:lnTo>
                  <a:cubicBezTo>
                    <a:pt x="21358" y="1586541"/>
                    <a:pt x="13965" y="1583479"/>
                    <a:pt x="8514" y="1578028"/>
                  </a:cubicBezTo>
                  <a:cubicBezTo>
                    <a:pt x="3062" y="1572576"/>
                    <a:pt x="0" y="1565183"/>
                    <a:pt x="0" y="1557474"/>
                  </a:cubicBezTo>
                  <a:lnTo>
                    <a:pt x="0" y="29067"/>
                  </a:lnTo>
                  <a:cubicBezTo>
                    <a:pt x="0" y="21358"/>
                    <a:pt x="3062" y="13965"/>
                    <a:pt x="8514" y="8514"/>
                  </a:cubicBezTo>
                  <a:cubicBezTo>
                    <a:pt x="13965" y="3062"/>
                    <a:pt x="21358" y="0"/>
                    <a:pt x="2906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9138901"/>
            <a:ext cx="8324850" cy="48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A8B3C6"/>
                </a:solidFill>
                <a:latin typeface="Be Vietnam"/>
                <a:ea typeface="Be Vietnam"/>
                <a:cs typeface="Be Vietnam"/>
                <a:sym typeface="Be Vietnam"/>
              </a:rPr>
              <a:t>PRESENTED BY MARZOOQ 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619125"/>
            <a:ext cx="8324850" cy="47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4"/>
              </a:lnSpc>
              <a:spcBef>
                <a:spcPct val="0"/>
              </a:spcBef>
            </a:pPr>
            <a:r>
              <a:rPr lang="en-US" b="true" sz="2803">
                <a:solidFill>
                  <a:srgbClr val="A8B3C6"/>
                </a:solidFill>
                <a:latin typeface="Roca Two Bold"/>
                <a:ea typeface="Roca Two Bold"/>
                <a:cs typeface="Roca Two Bold"/>
                <a:sym typeface="Roca Two Bold"/>
              </a:rPr>
              <a:t>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1634856"/>
            <a:ext cx="8324850" cy="6724244"/>
            <a:chOff x="0" y="0"/>
            <a:chExt cx="11099800" cy="896565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19075"/>
              <a:ext cx="11099800" cy="7943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1519"/>
                </a:lnSpc>
              </a:pPr>
              <a:r>
                <a:rPr lang="en-US" sz="11519">
                  <a:solidFill>
                    <a:srgbClr val="A8B3C6"/>
                  </a:solidFill>
                  <a:latin typeface="Roca Two"/>
                  <a:ea typeface="Roca Two"/>
                  <a:cs typeface="Roca Two"/>
                  <a:sym typeface="Roca Two"/>
                </a:rPr>
                <a:t>Enhanced Python Billing System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4309308" y="8253944"/>
              <a:ext cx="707832" cy="711714"/>
            </a:xfrm>
            <a:custGeom>
              <a:avLst/>
              <a:gdLst/>
              <a:ahLst/>
              <a:cxnLst/>
              <a:rect r="r" b="b" t="t" l="l"/>
              <a:pathLst>
                <a:path h="711714" w="707832">
                  <a:moveTo>
                    <a:pt x="0" y="0"/>
                  </a:moveTo>
                  <a:lnTo>
                    <a:pt x="707832" y="0"/>
                  </a:lnTo>
                  <a:lnTo>
                    <a:pt x="707832" y="711714"/>
                  </a:lnTo>
                  <a:lnTo>
                    <a:pt x="0" y="71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194079" y="8253944"/>
              <a:ext cx="707832" cy="711714"/>
            </a:xfrm>
            <a:custGeom>
              <a:avLst/>
              <a:gdLst/>
              <a:ahLst/>
              <a:cxnLst/>
              <a:rect r="r" b="b" t="t" l="l"/>
              <a:pathLst>
                <a:path h="711714" w="707832">
                  <a:moveTo>
                    <a:pt x="0" y="0"/>
                  </a:moveTo>
                  <a:lnTo>
                    <a:pt x="707832" y="0"/>
                  </a:lnTo>
                  <a:lnTo>
                    <a:pt x="707832" y="711714"/>
                  </a:lnTo>
                  <a:lnTo>
                    <a:pt x="0" y="71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082660" y="8253944"/>
              <a:ext cx="707832" cy="711714"/>
            </a:xfrm>
            <a:custGeom>
              <a:avLst/>
              <a:gdLst/>
              <a:ahLst/>
              <a:cxnLst/>
              <a:rect r="r" b="b" t="t" l="l"/>
              <a:pathLst>
                <a:path h="711714" w="707832">
                  <a:moveTo>
                    <a:pt x="0" y="0"/>
                  </a:moveTo>
                  <a:lnTo>
                    <a:pt x="707832" y="0"/>
                  </a:lnTo>
                  <a:lnTo>
                    <a:pt x="707832" y="711714"/>
                  </a:lnTo>
                  <a:lnTo>
                    <a:pt x="0" y="71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B3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6421" y="412250"/>
            <a:ext cx="16775158" cy="9462499"/>
          </a:xfrm>
          <a:custGeom>
            <a:avLst/>
            <a:gdLst/>
            <a:ahLst/>
            <a:cxnLst/>
            <a:rect r="r" b="b" t="t" l="l"/>
            <a:pathLst>
              <a:path h="9462499" w="16775158">
                <a:moveTo>
                  <a:pt x="0" y="0"/>
                </a:moveTo>
                <a:lnTo>
                  <a:pt x="16775158" y="0"/>
                </a:lnTo>
                <a:lnTo>
                  <a:pt x="16775158" y="9462500"/>
                </a:lnTo>
                <a:lnTo>
                  <a:pt x="0" y="946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945" r="0" b="-894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263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7" y="0"/>
                </a:lnTo>
                <a:lnTo>
                  <a:pt x="1550987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9156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0067925" cy="2867025"/>
            <a:chOff x="0" y="0"/>
            <a:chExt cx="13423900" cy="38227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34239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A8B3C6"/>
                  </a:solidFill>
                  <a:latin typeface="Roca Two"/>
                  <a:ea typeface="Roca Two"/>
                  <a:cs typeface="Roca Two"/>
                  <a:sym typeface="Roca Two"/>
                </a:rPr>
                <a:t>Authentication Module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360420"/>
              <a:ext cx="134239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A8B3C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Secure login and registration process overview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80344" y="4217227"/>
            <a:ext cx="14789919" cy="2978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2"/>
              </a:lnSpc>
            </a:pPr>
          </a:p>
          <a:p>
            <a:pPr algn="ctr" marL="1004495" indent="-502247" lvl="1">
              <a:lnSpc>
                <a:spcPts val="4652"/>
              </a:lnSpc>
              <a:buFont typeface="Arial"/>
              <a:buChar char="•"/>
            </a:pPr>
            <a:r>
              <a:rPr lang="en-US" sz="4652">
                <a:solidFill>
                  <a:srgbClr val="A8B3C6"/>
                </a:solidFill>
                <a:latin typeface="Roca Two"/>
                <a:ea typeface="Roca Two"/>
                <a:cs typeface="Roca Two"/>
                <a:sym typeface="Roca Two"/>
              </a:rPr>
              <a:t>Enables secure user access (Login &amp; Registration).</a:t>
            </a:r>
          </a:p>
          <a:p>
            <a:pPr algn="ctr" marL="1004495" indent="-502247" lvl="1">
              <a:lnSpc>
                <a:spcPts val="4652"/>
              </a:lnSpc>
              <a:buFont typeface="Arial"/>
              <a:buChar char="•"/>
            </a:pPr>
            <a:r>
              <a:rPr lang="en-US" sz="4652">
                <a:solidFill>
                  <a:srgbClr val="A8B3C6"/>
                </a:solidFill>
                <a:latin typeface="Roca Two"/>
                <a:ea typeface="Roca Two"/>
                <a:cs typeface="Roca Two"/>
                <a:sym typeface="Roca Two"/>
              </a:rPr>
              <a:t>Credentials stored in users.csv.</a:t>
            </a:r>
          </a:p>
          <a:p>
            <a:pPr algn="ctr" marL="1004495" indent="-502247" lvl="1">
              <a:lnSpc>
                <a:spcPts val="4652"/>
              </a:lnSpc>
              <a:buFont typeface="Arial"/>
              <a:buChar char="•"/>
            </a:pPr>
            <a:r>
              <a:rPr lang="en-US" sz="4652">
                <a:solidFill>
                  <a:srgbClr val="A8B3C6"/>
                </a:solidFill>
                <a:latin typeface="Roca Two"/>
                <a:ea typeface="Roca Two"/>
                <a:cs typeface="Roca Two"/>
                <a:sym typeface="Roca Two"/>
              </a:rPr>
              <a:t>Restricts system usage to verified users.</a:t>
            </a:r>
          </a:p>
          <a:p>
            <a:pPr algn="ctr" marL="1004495" indent="-502247" lvl="1">
              <a:lnSpc>
                <a:spcPts val="4652"/>
              </a:lnSpc>
              <a:buFont typeface="Arial"/>
              <a:buChar char="•"/>
            </a:pPr>
            <a:r>
              <a:rPr lang="en-US" sz="4652">
                <a:solidFill>
                  <a:srgbClr val="A8B3C6"/>
                </a:solidFill>
                <a:latin typeface="Roca Two"/>
                <a:ea typeface="Roca Two"/>
                <a:cs typeface="Roca Two"/>
                <a:sym typeface="Roca Two"/>
              </a:rPr>
              <a:t>Adds professionalism and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B3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263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7" y="0"/>
                </a:lnTo>
                <a:lnTo>
                  <a:pt x="1550987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9156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0067925" cy="1790700"/>
            <a:chOff x="0" y="0"/>
            <a:chExt cx="13423900" cy="23876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3423900" cy="15515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1E3A5F"/>
                  </a:solidFill>
                  <a:latin typeface="Roca Two"/>
                  <a:ea typeface="Roca Two"/>
                  <a:cs typeface="Roca Two"/>
                  <a:sym typeface="Roca Two"/>
                </a:rPr>
                <a:t>Billing Workflow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925320"/>
              <a:ext cx="134239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1E3A5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Overview of automated billing processes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89663" y="3844155"/>
            <a:ext cx="15569637" cy="229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80256" indent="-490128" lvl="1">
              <a:lnSpc>
                <a:spcPts val="4540"/>
              </a:lnSpc>
              <a:buFont typeface="Arial"/>
              <a:buChar char="•"/>
            </a:pPr>
            <a:r>
              <a:rPr lang="en-US" sz="4540">
                <a:solidFill>
                  <a:srgbClr val="1E3A5F"/>
                </a:solidFill>
                <a:latin typeface="Roca Two"/>
                <a:ea typeface="Roca Two"/>
                <a:cs typeface="Roca Two"/>
                <a:sym typeface="Roca Two"/>
              </a:rPr>
              <a:t>Generates auto-numbered bills (BILL-YYYYMMDD).</a:t>
            </a:r>
          </a:p>
          <a:p>
            <a:pPr algn="ctr" marL="980256" indent="-490128" lvl="1">
              <a:lnSpc>
                <a:spcPts val="4540"/>
              </a:lnSpc>
              <a:buFont typeface="Arial"/>
              <a:buChar char="•"/>
            </a:pPr>
            <a:r>
              <a:rPr lang="en-US" sz="4540">
                <a:solidFill>
                  <a:srgbClr val="1E3A5F"/>
                </a:solidFill>
                <a:latin typeface="Roca Two"/>
                <a:ea typeface="Roca Two"/>
                <a:cs typeface="Roca Two"/>
                <a:sym typeface="Roca Two"/>
              </a:rPr>
              <a:t>Applies discounts and tax dynamically.</a:t>
            </a:r>
          </a:p>
          <a:p>
            <a:pPr algn="ctr" marL="980256" indent="-490128" lvl="1">
              <a:lnSpc>
                <a:spcPts val="4540"/>
              </a:lnSpc>
              <a:buFont typeface="Arial"/>
              <a:buChar char="•"/>
            </a:pPr>
            <a:r>
              <a:rPr lang="en-US" sz="4540">
                <a:solidFill>
                  <a:srgbClr val="1E3A5F"/>
                </a:solidFill>
                <a:latin typeface="Roca Two"/>
                <a:ea typeface="Roca Two"/>
                <a:cs typeface="Roca Two"/>
                <a:sym typeface="Roca Two"/>
              </a:rPr>
              <a:t>Saves bills as CSV in /data/bills/.</a:t>
            </a:r>
          </a:p>
          <a:p>
            <a:pPr algn="ctr" marL="980256" indent="-490128" lvl="1">
              <a:lnSpc>
                <a:spcPts val="4540"/>
              </a:lnSpc>
              <a:buFont typeface="Arial"/>
              <a:buChar char="•"/>
            </a:pPr>
            <a:r>
              <a:rPr lang="en-US" sz="4540">
                <a:solidFill>
                  <a:srgbClr val="1E3A5F"/>
                </a:solidFill>
                <a:latin typeface="Roca Two"/>
                <a:ea typeface="Roca Two"/>
                <a:cs typeface="Roca Two"/>
                <a:sym typeface="Roca Two"/>
              </a:rPr>
              <a:t>Ensures accuracy and traceability in every transaction.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263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7" y="0"/>
                </a:lnTo>
                <a:lnTo>
                  <a:pt x="1550987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9156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0067925" cy="2867025"/>
            <a:chOff x="0" y="0"/>
            <a:chExt cx="13423900" cy="38227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34239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A8B3C6"/>
                  </a:solidFill>
                  <a:latin typeface="Roca Two"/>
                  <a:ea typeface="Roca Two"/>
                  <a:cs typeface="Roca Two"/>
                  <a:sym typeface="Roca Two"/>
                </a:rPr>
                <a:t>Testing &amp; Validation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360420"/>
              <a:ext cx="134239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A8B3C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Ensuring reliability and user satisfaction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66505" y="4581525"/>
            <a:ext cx="14979252" cy="253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3542" indent="-536771" lvl="1">
              <a:lnSpc>
                <a:spcPts val="4972"/>
              </a:lnSpc>
              <a:buFont typeface="Arial"/>
              <a:buChar char="•"/>
            </a:pPr>
            <a:r>
              <a:rPr lang="en-US" sz="4972">
                <a:solidFill>
                  <a:srgbClr val="A8B3C6"/>
                </a:solidFill>
                <a:latin typeface="Roca Two"/>
                <a:ea typeface="Roca Two"/>
                <a:cs typeface="Roca Two"/>
                <a:sym typeface="Roca Two"/>
              </a:rPr>
              <a:t>Covered product and billing modules.</a:t>
            </a:r>
          </a:p>
          <a:p>
            <a:pPr algn="ctr" marL="1073542" indent="-536771" lvl="1">
              <a:lnSpc>
                <a:spcPts val="4972"/>
              </a:lnSpc>
              <a:buFont typeface="Arial"/>
              <a:buChar char="•"/>
            </a:pPr>
            <a:r>
              <a:rPr lang="en-US" sz="4972">
                <a:solidFill>
                  <a:srgbClr val="A8B3C6"/>
                </a:solidFill>
                <a:latin typeface="Roca Two"/>
                <a:ea typeface="Roca Two"/>
                <a:cs typeface="Roca Two"/>
                <a:sym typeface="Roca Two"/>
              </a:rPr>
              <a:t>Checked boundary, valid, and invalid inputs.</a:t>
            </a:r>
          </a:p>
          <a:p>
            <a:pPr algn="ctr" marL="1073542" indent="-536771" lvl="1">
              <a:lnSpc>
                <a:spcPts val="4972"/>
              </a:lnSpc>
              <a:buFont typeface="Arial"/>
              <a:buChar char="•"/>
            </a:pPr>
            <a:r>
              <a:rPr lang="en-US" sz="4972">
                <a:solidFill>
                  <a:srgbClr val="A8B3C6"/>
                </a:solidFill>
                <a:latin typeface="Roca Two"/>
                <a:ea typeface="Roca Two"/>
                <a:cs typeface="Roca Two"/>
                <a:sym typeface="Roca Two"/>
              </a:rPr>
              <a:t>All tests passed — system is stable and reliable.</a:t>
            </a:r>
          </a:p>
          <a:p>
            <a:pPr algn="ctr" marL="1073542" indent="-536771" lvl="1">
              <a:lnSpc>
                <a:spcPts val="4972"/>
              </a:lnSpc>
              <a:buFont typeface="Arial"/>
              <a:buChar char="•"/>
            </a:pPr>
            <a:r>
              <a:rPr lang="en-US" sz="4972">
                <a:solidFill>
                  <a:srgbClr val="A8B3C6"/>
                </a:solidFill>
                <a:latin typeface="Roca Two"/>
                <a:ea typeface="Roca Two"/>
                <a:cs typeface="Roca Two"/>
                <a:sym typeface="Roca Two"/>
              </a:rPr>
              <a:t>Results documented in tests/test_cases.xlsx.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B3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263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7" y="0"/>
                </a:lnTo>
                <a:lnTo>
                  <a:pt x="1550987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9156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0067925" cy="2867025"/>
            <a:chOff x="0" y="0"/>
            <a:chExt cx="13423900" cy="38227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134239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1E3A5F"/>
                  </a:solidFill>
                  <a:latin typeface="Roca Two"/>
                  <a:ea typeface="Roca Two"/>
                  <a:cs typeface="Roca Two"/>
                  <a:sym typeface="Roca Two"/>
                </a:rPr>
                <a:t>Future Enhancements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360420"/>
              <a:ext cx="134239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1E3A5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Proposed features for improved functionality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599224" y="4712162"/>
            <a:ext cx="12307842" cy="278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50469" indent="-475234" lvl="1">
              <a:lnSpc>
                <a:spcPts val="4402"/>
              </a:lnSpc>
              <a:buFont typeface="Arial"/>
              <a:buChar char="•"/>
            </a:pPr>
            <a:r>
              <a:rPr lang="en-US" sz="4402">
                <a:solidFill>
                  <a:srgbClr val="1E3A5F"/>
                </a:solidFill>
                <a:latin typeface="Roca Two"/>
                <a:ea typeface="Roca Two"/>
                <a:cs typeface="Roca Two"/>
                <a:sym typeface="Roca Two"/>
              </a:rPr>
              <a:t>Add database (SQLite/MySQL) support.</a:t>
            </a:r>
          </a:p>
          <a:p>
            <a:pPr algn="ctr" marL="950469" indent="-475234" lvl="1">
              <a:lnSpc>
                <a:spcPts val="4402"/>
              </a:lnSpc>
              <a:buFont typeface="Arial"/>
              <a:buChar char="•"/>
            </a:pPr>
            <a:r>
              <a:rPr lang="en-US" sz="4402">
                <a:solidFill>
                  <a:srgbClr val="1E3A5F"/>
                </a:solidFill>
                <a:latin typeface="Roca Two"/>
                <a:ea typeface="Roca Two"/>
                <a:cs typeface="Roca Two"/>
                <a:sym typeface="Roca Two"/>
              </a:rPr>
              <a:t>Implement password hashing for security.</a:t>
            </a:r>
          </a:p>
          <a:p>
            <a:pPr algn="ctr" marL="950469" indent="-475234" lvl="1">
              <a:lnSpc>
                <a:spcPts val="4402"/>
              </a:lnSpc>
              <a:buFont typeface="Arial"/>
              <a:buChar char="•"/>
            </a:pPr>
            <a:r>
              <a:rPr lang="en-US" sz="4402">
                <a:solidFill>
                  <a:srgbClr val="1E3A5F"/>
                </a:solidFill>
                <a:latin typeface="Roca Two"/>
                <a:ea typeface="Roca Two"/>
                <a:cs typeface="Roca Two"/>
                <a:sym typeface="Roca Two"/>
              </a:rPr>
              <a:t>Build GUI for better user experience.</a:t>
            </a:r>
          </a:p>
          <a:p>
            <a:pPr algn="ctr" marL="950469" indent="-475234" lvl="1">
              <a:lnSpc>
                <a:spcPts val="4402"/>
              </a:lnSpc>
              <a:buFont typeface="Arial"/>
              <a:buChar char="•"/>
            </a:pPr>
            <a:r>
              <a:rPr lang="en-US" sz="4402">
                <a:solidFill>
                  <a:srgbClr val="1E3A5F"/>
                </a:solidFill>
                <a:latin typeface="Roca Two"/>
                <a:ea typeface="Roca Two"/>
                <a:cs typeface="Roca Two"/>
                <a:sym typeface="Roca Two"/>
              </a:rPr>
              <a:t>Generate advanced analytics &amp; sales reports.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927735"/>
            <a:ext cx="12639675" cy="50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99"/>
              </a:lnSpc>
            </a:pPr>
            <a:r>
              <a:rPr lang="en-US" sz="12999">
                <a:solidFill>
                  <a:srgbClr val="A8B3C6"/>
                </a:solidFill>
                <a:latin typeface="Roca Two"/>
                <a:ea typeface="Roca Two"/>
                <a:cs typeface="Roca Two"/>
                <a:sym typeface="Roca Two"/>
              </a:rPr>
              <a:t>Thank You! Contact Information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937938"/>
            <a:ext cx="4823421" cy="883939"/>
            <a:chOff x="0" y="0"/>
            <a:chExt cx="6431228" cy="117858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6431228" cy="427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0"/>
                </a:lnSpc>
              </a:pPr>
              <a:r>
                <a:rPr lang="en-US" b="true" sz="1800" spc="36" u="none">
                  <a:solidFill>
                    <a:srgbClr val="A8B3C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Email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716286"/>
              <a:ext cx="6431228" cy="462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spc="21">
                  <a:solidFill>
                    <a:srgbClr val="A8B3C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marzooqmarzooq18@gmail.com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049500" y="7026723"/>
            <a:ext cx="2571750" cy="2585855"/>
          </a:xfrm>
          <a:custGeom>
            <a:avLst/>
            <a:gdLst/>
            <a:ahLst/>
            <a:cxnLst/>
            <a:rect r="r" b="b" t="t" l="l"/>
            <a:pathLst>
              <a:path h="2585855" w="2571750">
                <a:moveTo>
                  <a:pt x="0" y="0"/>
                </a:moveTo>
                <a:lnTo>
                  <a:pt x="2571750" y="0"/>
                </a:lnTo>
                <a:lnTo>
                  <a:pt x="2571750" y="2585855"/>
                </a:lnTo>
                <a:lnTo>
                  <a:pt x="0" y="258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Enhanced Python Billing System</dc:description>
  <dc:identifier>DAG4Cc2Wocw</dc:identifier>
  <dcterms:modified xsi:type="dcterms:W3CDTF">2011-08-01T06:04:30Z</dcterms:modified>
  <cp:revision>1</cp:revision>
  <dc:title>Presentation - Enhanced Python Billing System</dc:title>
</cp:coreProperties>
</file>